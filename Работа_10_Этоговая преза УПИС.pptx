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4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5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2" r:id="rId1"/>
    <p:sldMasterId id="2147483703" r:id="rId2"/>
    <p:sldMasterId id="2147483683" r:id="rId3"/>
    <p:sldMasterId id="2147483693" r:id="rId4"/>
    <p:sldMasterId id="2147483713" r:id="rId5"/>
    <p:sldMasterId id="2147483661" r:id="rId6"/>
  </p:sldMasterIdLst>
  <p:sldIdLst>
    <p:sldId id="261" r:id="rId7"/>
    <p:sldId id="269" r:id="rId8"/>
    <p:sldId id="270" r:id="rId9"/>
    <p:sldId id="271" r:id="rId10"/>
    <p:sldId id="272" r:id="rId11"/>
    <p:sldId id="279" r:id="rId12"/>
    <p:sldId id="280" r:id="rId13"/>
    <p:sldId id="273" r:id="rId14"/>
    <p:sldId id="281" r:id="rId15"/>
    <p:sldId id="282" r:id="rId16"/>
    <p:sldId id="278" r:id="rId17"/>
    <p:sldId id="274" r:id="rId18"/>
    <p:sldId id="275" r:id="rId19"/>
    <p:sldId id="276" r:id="rId20"/>
    <p:sldId id="277" r:id="rId21"/>
    <p:sldId id="260" r:id="rId22"/>
  </p:sldIdLst>
  <p:sldSz cx="12192000" cy="6858000"/>
  <p:notesSz cx="6858000" cy="9144000"/>
  <p:embeddedFontLst>
    <p:embeddedFont>
      <p:font typeface="Montserrat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font" Target="fonts/font2.fntdata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6597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7155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043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207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563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397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981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113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938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764709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221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497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217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68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850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150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4643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9187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8D8E887-6788-4EF2-8725-E4E97197F4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2F3206E9-58DF-4D91-B0A9-8204642B0A2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10670076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5994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217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4813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9636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4026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097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7404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3745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2889451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2024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31675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90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638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21833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9087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577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3668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25585449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9514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851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74174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0825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6140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53774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722906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64702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9407E-41C3-40ED-85C3-4F4AC310C9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3D66044-C392-47A5-889F-A4F90FD21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DF13AC-6E1E-4952-A845-6B362839D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8ACDA3-E292-470D-9120-E50EBB6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BC5BAF7-EFF7-4D86-8301-BE8F3D3FEB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9932064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43B20-A1B6-44D1-BB04-ED9151FA2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FDBDE35-63AF-45E9-A900-BE347A7628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610868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00010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8964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8511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2967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2499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646754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13143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201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image" Target="../media/image4.png"/><Relationship Id="rId5" Type="http://schemas.openxmlformats.org/officeDocument/2006/relationships/slideLayout" Target="../slideLayouts/slideLayout23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32.xml"/><Relationship Id="rId10" Type="http://schemas.openxmlformats.org/officeDocument/2006/relationships/theme" Target="../theme/theme4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image" Target="../media/image6.png"/><Relationship Id="rId5" Type="http://schemas.openxmlformats.org/officeDocument/2006/relationships/slideLayout" Target="../slideLayouts/slideLayout41.xml"/><Relationship Id="rId10" Type="http://schemas.openxmlformats.org/officeDocument/2006/relationships/theme" Target="../theme/theme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8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image" Target="../media/image7.png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theme" Target="../theme/theme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484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75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5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9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94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FE79D92-88A3-4669-9E63-839B8296D48F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4" y="67758"/>
            <a:ext cx="2749647" cy="916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3474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EE105180-9459-4618-A9B5-823661CBC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3195"/>
            <a:ext cx="10515600" cy="1928812"/>
          </a:xfrm>
        </p:spPr>
        <p:txBody>
          <a:bodyPr>
            <a:normAutofit fontScale="90000"/>
          </a:bodyPr>
          <a:lstStyle/>
          <a:p>
            <a:r>
              <a:rPr lang="ru-RU" b="0" dirty="0"/>
              <a:t>Веб‑платформа мониторинга и классификации земных покровов по спутниковым данным</a:t>
            </a:r>
            <a:br>
              <a:rPr lang="ru-RU" b="0" dirty="0"/>
            </a:b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15" name="Подзаголовок 14">
            <a:extLst>
              <a:ext uri="{FF2B5EF4-FFF2-40B4-BE49-F238E27FC236}">
                <a16:creationId xmlns:a16="http://schemas.microsoft.com/office/drawing/2014/main" id="{7C975E68-0A5B-4C40-8370-5A2ABEF71A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Наумов Дмитрий Дмитриевич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734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3A486E-19D8-478B-82FB-76FB43E45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Актуальность </a:t>
            </a:r>
            <a:r>
              <a:rPr lang="ru-RU" dirty="0"/>
              <a:t>проекта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ru-RU" b="0" dirty="0"/>
              <a:t/>
            </a:r>
            <a:br>
              <a:rPr lang="ru-RU" b="0" dirty="0"/>
            </a:br>
            <a:endParaRPr lang="ru-RU" dirty="0"/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Мониторинг земных покровов требует объединения оптических и SAR‑данных, а также удобного интерфейса для выбора AOI и запуска анализа.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Существующие решения часто либо ориентированы на специалистов ГИС, либо не дают полного цикла: выбор сцены → классификация → статистика → экспорт.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Проект закрывает прикладную потребность в веб‑инструменте для анализа изменений покрытия территории по спутниковым данным.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2659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Цель и задачи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32500" lnSpcReduction="20000"/>
          </a:bodyPr>
          <a:lstStyle/>
          <a:p>
            <a:endParaRPr lang="ru-RU" dirty="0" smtClean="0"/>
          </a:p>
          <a:p>
            <a:endParaRPr lang="ru-RU" dirty="0"/>
          </a:p>
          <a:p>
            <a:r>
              <a:rPr lang="ru-RU" sz="8000" dirty="0" smtClean="0"/>
              <a:t>Цель</a:t>
            </a:r>
            <a:endParaRPr lang="ru-RU" sz="8000" dirty="0"/>
          </a:p>
          <a:p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Разработать </a:t>
            </a:r>
            <a:r>
              <a:rPr lang="ru-RU" dirty="0"/>
              <a:t>информационную систему для мониторинга и классификации земных покровов на основе спутниковых данных с поддержкой выбора области интереса, автоматизированной обработки и экспорта результатов.</a:t>
            </a:r>
          </a:p>
          <a:p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25000" lnSpcReduction="20000"/>
          </a:bodyPr>
          <a:lstStyle/>
          <a:p>
            <a:endParaRPr lang="ru-RU" sz="3200" dirty="0" smtClean="0"/>
          </a:p>
          <a:p>
            <a:endParaRPr lang="ru-RU" sz="3200" dirty="0"/>
          </a:p>
          <a:p>
            <a:r>
              <a:rPr lang="ru-RU" sz="10400" dirty="0" smtClean="0"/>
              <a:t>Задачи</a:t>
            </a:r>
            <a:endParaRPr lang="ru-RU" sz="10400" dirty="0"/>
          </a:p>
          <a:p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Проанализировать </a:t>
            </a:r>
            <a:r>
              <a:rPr lang="ru-RU" dirty="0"/>
              <a:t>предметную область и существующие аналоги.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Определить функциональные и нефункциональные требования.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Спроектировать архитектуру, БД и API системы.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Реализовать пользовательский интерфейс и сценарий анализа.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Оценить результаты, метрики качества и направления развития.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8233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и сравнение аналогов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869055"/>
              </p:ext>
            </p:extLst>
          </p:nvPr>
        </p:nvGraphicFramePr>
        <p:xfrm>
          <a:off x="369988" y="1697627"/>
          <a:ext cx="11452024" cy="4927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006">
                  <a:extLst>
                    <a:ext uri="{9D8B030D-6E8A-4147-A177-3AD203B41FA5}">
                      <a16:colId xmlns:a16="http://schemas.microsoft.com/office/drawing/2014/main" val="2860347986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2869656744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3905758762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1587737023"/>
                    </a:ext>
                  </a:extLst>
                </a:gridCol>
              </a:tblGrid>
              <a:tr h="526631"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Система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Сильные стороны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solidFill>
                            <a:srgbClr val="0B2F97"/>
                          </a:solidFill>
                          <a:effectLst/>
                        </a:rPr>
                        <a:t>Ограничения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Вывод для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694169423"/>
                  </a:ext>
                </a:extLst>
              </a:tr>
              <a:tr h="12695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dirty="0">
                          <a:effectLst/>
                        </a:rPr>
                        <a:t>Google Earth Engine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Мощная обработка, большой каталог данных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Требует навыков </a:t>
                      </a:r>
                      <a:r>
                        <a:rPr lang="ru-RU" sz="1400" dirty="0" err="1">
                          <a:effectLst/>
                        </a:rPr>
                        <a:t>скриптинга</a:t>
                      </a:r>
                      <a:r>
                        <a:rPr lang="ru-RU" sz="1400" dirty="0">
                          <a:effectLst/>
                        </a:rPr>
                        <a:t>, не ориентирован на готовый прикладной </a:t>
                      </a:r>
                      <a:r>
                        <a:rPr lang="ru-RU" sz="1400" dirty="0" err="1">
                          <a:effectLst/>
                        </a:rPr>
                        <a:t>workflow</a:t>
                      </a:r>
                      <a:endParaRPr lang="ru-RU" sz="1400" dirty="0">
                        <a:effectLst/>
                      </a:endParaRP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Подтверждает ценность автоматизации и визуального сценария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772986670"/>
                  </a:ext>
                </a:extLst>
              </a:tr>
              <a:tr h="12695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dirty="0">
                          <a:effectLst/>
                        </a:rPr>
                        <a:t>Sentinel Hub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Доступ к данным и API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Фокус на доступе к сценам, а не на полном цикле пользовательского анализа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Нужен собственный слой аналитики и отображения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3880378546"/>
                  </a:ext>
                </a:extLst>
              </a:tr>
              <a:tr h="8181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>
                          <a:effectLst/>
                        </a:rPr>
                        <a:t>ESA WorldCover / Dynamic World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Готовые глобальные продукты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Нет пользовательской настройки под AOI и период анализа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Полезны как </a:t>
                      </a:r>
                      <a:r>
                        <a:rPr lang="ru-RU" sz="1400" dirty="0" err="1">
                          <a:effectLst/>
                        </a:rPr>
                        <a:t>референс</a:t>
                      </a:r>
                      <a:r>
                        <a:rPr lang="ru-RU" sz="1400" dirty="0">
                          <a:effectLst/>
                        </a:rPr>
                        <a:t> и источник сравнения качества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500828287"/>
                  </a:ext>
                </a:extLst>
              </a:tr>
              <a:tr h="10438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dirty="0" err="1">
                          <a:effectLst/>
                        </a:rPr>
                        <a:t>MaRS</a:t>
                      </a:r>
                      <a:r>
                        <a:rPr lang="en-US" sz="1400" dirty="0">
                          <a:effectLst/>
                        </a:rPr>
                        <a:t> Platform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Интеграция данных, AOI, классификация, статистика и экспорт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Требует дальнейшего развития моделей и промышленной интеграции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Оптимальна как прикладная ИС под задачи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77006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129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B1E0B3-8C4A-4BEF-BA49-D8498F960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Используемые технологии и инструменты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1773729"/>
          </a:xfrm>
        </p:spPr>
        <p:txBody>
          <a:bodyPr/>
          <a:lstStyle/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Python, </a:t>
            </a:r>
            <a:r>
              <a:rPr lang="en-US" sz="2000" dirty="0" err="1"/>
              <a:t>TensorFlow</a:t>
            </a:r>
            <a:r>
              <a:rPr lang="en-US" sz="2000" dirty="0"/>
              <a:t> — </a:t>
            </a:r>
            <a:r>
              <a:rPr lang="ru-RU" sz="2000" dirty="0" smtClean="0"/>
              <a:t>вычислительная и </a:t>
            </a:r>
            <a:r>
              <a:rPr lang="en-US" sz="2000" dirty="0" smtClean="0"/>
              <a:t>ML‑</a:t>
            </a:r>
            <a:r>
              <a:rPr lang="ru-RU" sz="2000" dirty="0" smtClean="0"/>
              <a:t>часть.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 smtClean="0"/>
              <a:t>React </a:t>
            </a:r>
            <a:r>
              <a:rPr lang="en-US" sz="2000" dirty="0"/>
              <a:t>/ Leaflet / </a:t>
            </a:r>
            <a:r>
              <a:rPr lang="en-US" sz="2000" dirty="0" err="1"/>
              <a:t>OpenLayers</a:t>
            </a:r>
            <a:r>
              <a:rPr lang="en-US" sz="2000" dirty="0"/>
              <a:t> — </a:t>
            </a:r>
            <a:r>
              <a:rPr lang="ru-RU" sz="2000" dirty="0"/>
              <a:t>веб‑интерфейс и работа с картой.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PostgreSQL + </a:t>
            </a:r>
            <a:r>
              <a:rPr lang="en-US" sz="2000" dirty="0" err="1"/>
              <a:t>PostGIS</a:t>
            </a:r>
            <a:r>
              <a:rPr lang="en-US" sz="2000" dirty="0"/>
              <a:t> — </a:t>
            </a:r>
            <a:r>
              <a:rPr lang="ru-RU" sz="2000" dirty="0"/>
              <a:t>хранение пространственных и прикладных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REST API — </a:t>
            </a:r>
            <a:r>
              <a:rPr lang="ru-RU" sz="2000" dirty="0"/>
              <a:t>обмен между клиентом, обработкой и слоем хранения.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513811"/>
            <a:ext cx="1354974" cy="135497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174" y="4150555"/>
            <a:ext cx="2933428" cy="187617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10" y="4513811"/>
            <a:ext cx="1698712" cy="151291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2173" y="4890849"/>
            <a:ext cx="2856807" cy="7588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8736" y="4566978"/>
            <a:ext cx="1406582" cy="140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289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Компоненты системы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035864"/>
            <a:ext cx="6172200" cy="4776746"/>
          </a:xfrm>
          <a:prstGeom prst="rect">
            <a:avLst/>
          </a:prstGeom>
        </p:spPr>
      </p:pic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831274" y="2476500"/>
            <a:ext cx="3940752" cy="3392488"/>
          </a:xfrm>
        </p:spPr>
        <p:txBody>
          <a:bodyPr>
            <a:noAutofit/>
          </a:bodyPr>
          <a:lstStyle/>
          <a:p>
            <a:r>
              <a:rPr lang="en-US" sz="1400" dirty="0"/>
              <a:t>W</a:t>
            </a:r>
            <a:r>
              <a:rPr lang="en-US" sz="1400" dirty="0" smtClean="0"/>
              <a:t>eb </a:t>
            </a:r>
            <a:r>
              <a:rPr lang="en-US" sz="1400" dirty="0"/>
              <a:t>Client </a:t>
            </a:r>
            <a:r>
              <a:rPr lang="ru-RU" sz="1400" dirty="0"/>
              <a:t>обращается к </a:t>
            </a:r>
            <a:r>
              <a:rPr lang="en-US" sz="1400" dirty="0"/>
              <a:t>API Gateway </a:t>
            </a:r>
            <a:r>
              <a:rPr lang="ru-RU" sz="1400" dirty="0"/>
              <a:t>по </a:t>
            </a:r>
            <a:r>
              <a:rPr lang="en-US" sz="1400" dirty="0"/>
              <a:t>HTTP(S).</a:t>
            </a:r>
          </a:p>
          <a:p>
            <a:r>
              <a:rPr lang="en-US" sz="1400" dirty="0"/>
              <a:t>API Gateway </a:t>
            </a:r>
            <a:r>
              <a:rPr lang="ru-RU" sz="1400" dirty="0"/>
              <a:t>вызывает: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sz="1400" dirty="0" err="1"/>
              <a:t>Auth</a:t>
            </a:r>
            <a:r>
              <a:rPr lang="en-US" sz="1400" dirty="0"/>
              <a:t> Service </a:t>
            </a:r>
            <a:r>
              <a:rPr lang="ru-RU" sz="1400" dirty="0"/>
              <a:t>для проверки прав;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sz="1400" dirty="0"/>
              <a:t>Analysis Service </a:t>
            </a:r>
            <a:r>
              <a:rPr lang="ru-RU" sz="1400" dirty="0"/>
              <a:t>для создания и управления запросами анализа.</a:t>
            </a:r>
          </a:p>
          <a:p>
            <a:r>
              <a:rPr lang="en-US" sz="1400" dirty="0"/>
              <a:t>Analysis Service </a:t>
            </a:r>
            <a:r>
              <a:rPr lang="ru-RU" sz="1400" dirty="0"/>
              <a:t>взаимодействует с: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sz="1400" dirty="0"/>
              <a:t>Copernicus/USGS/GEE </a:t>
            </a:r>
            <a:r>
              <a:rPr lang="ru-RU" sz="1400" dirty="0"/>
              <a:t>для поиска и загрузки сцен;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sz="1400" dirty="0"/>
              <a:t>PostgreSQL/</a:t>
            </a:r>
            <a:r>
              <a:rPr lang="en-US" sz="1400" dirty="0" err="1"/>
              <a:t>PostGIS</a:t>
            </a:r>
            <a:r>
              <a:rPr lang="en-US" sz="1400" dirty="0"/>
              <a:t> </a:t>
            </a:r>
            <a:r>
              <a:rPr lang="ru-RU" sz="1400" dirty="0"/>
              <a:t>для записи/чтения метаданных;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sz="1400" dirty="0"/>
              <a:t>Raster Storage </a:t>
            </a:r>
            <a:r>
              <a:rPr lang="ru-RU" sz="1400" dirty="0"/>
              <a:t>для чтения/записи растровых данных.</a:t>
            </a:r>
          </a:p>
          <a:p>
            <a:r>
              <a:rPr lang="en-US" sz="1400" dirty="0" err="1"/>
              <a:t>Auth</a:t>
            </a:r>
            <a:r>
              <a:rPr lang="en-US" sz="1400" dirty="0"/>
              <a:t> Service </a:t>
            </a:r>
            <a:r>
              <a:rPr lang="ru-RU" sz="1400" dirty="0"/>
              <a:t>использует </a:t>
            </a:r>
            <a:r>
              <a:rPr lang="en-US" sz="1400" dirty="0"/>
              <a:t>PostgreSQL/</a:t>
            </a:r>
            <a:r>
              <a:rPr lang="en-US" sz="1400" dirty="0" err="1"/>
              <a:t>PostGIS</a:t>
            </a:r>
            <a:r>
              <a:rPr lang="en-US" sz="1400" dirty="0"/>
              <a:t> </a:t>
            </a:r>
            <a:r>
              <a:rPr lang="ru-RU" sz="1400" dirty="0"/>
              <a:t>как хранилище учётных записей.</a:t>
            </a:r>
          </a:p>
        </p:txBody>
      </p:sp>
    </p:spTree>
    <p:extLst>
      <p:ext uri="{BB962C8B-B14F-4D97-AF65-F5344CB8AC3E}">
        <p14:creationId xmlns:p14="http://schemas.microsoft.com/office/powerpoint/2010/main" val="3275800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Последовательность потока данных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130" y="2008426"/>
            <a:ext cx="9321740" cy="458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46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53B6-3FE8-4B08-A5FD-6A1522F17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17" y="502852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и архитектура</a:t>
            </a:r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927100" y="3962806"/>
            <a:ext cx="5157787" cy="823912"/>
          </a:xfrm>
        </p:spPr>
        <p:txBody>
          <a:bodyPr/>
          <a:lstStyle/>
          <a:p>
            <a:r>
              <a:rPr lang="ru-RU" dirty="0"/>
              <a:t>Логика данных</a:t>
            </a:r>
          </a:p>
        </p:txBody>
      </p:sp>
      <p:sp>
        <p:nvSpPr>
          <p:cNvPr id="31" name="Объект 30"/>
          <p:cNvSpPr>
            <a:spLocks noGrp="1"/>
          </p:cNvSpPr>
          <p:nvPr>
            <p:ph sz="half" idx="2"/>
          </p:nvPr>
        </p:nvSpPr>
        <p:spPr>
          <a:xfrm>
            <a:off x="962526" y="5037221"/>
            <a:ext cx="5130886" cy="115244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Центральная сущность — запрос анализа. С ним связаны пользователь, выбранный период, AOI, набор сцен, результат классификации и метрики качества.</a:t>
            </a:r>
          </a:p>
        </p:txBody>
      </p:sp>
      <p:sp>
        <p:nvSpPr>
          <p:cNvPr id="32" name="Текст 31"/>
          <p:cNvSpPr>
            <a:spLocks noGrp="1"/>
          </p:cNvSpPr>
          <p:nvPr>
            <p:ph type="body" sz="quarter" idx="3"/>
          </p:nvPr>
        </p:nvSpPr>
        <p:spPr>
          <a:xfrm>
            <a:off x="6411084" y="3975727"/>
            <a:ext cx="5183188" cy="823912"/>
          </a:xfrm>
        </p:spPr>
        <p:txBody>
          <a:bodyPr numCol="3"/>
          <a:lstStyle/>
          <a:p>
            <a:r>
              <a:rPr lang="ru-RU" dirty="0" smtClean="0"/>
              <a:t>Архитектурный </a:t>
            </a:r>
            <a:r>
              <a:rPr lang="ru-RU" dirty="0"/>
              <a:t>принцип</a:t>
            </a:r>
          </a:p>
          <a:p>
            <a:endParaRPr lang="ru-RU" dirty="0"/>
          </a:p>
        </p:txBody>
      </p:sp>
      <p:sp>
        <p:nvSpPr>
          <p:cNvPr id="33" name="Объект 32"/>
          <p:cNvSpPr>
            <a:spLocks noGrp="1"/>
          </p:cNvSpPr>
          <p:nvPr>
            <p:ph sz="quarter" idx="4"/>
          </p:nvPr>
        </p:nvSpPr>
        <p:spPr>
          <a:xfrm>
            <a:off x="6411084" y="5037221"/>
            <a:ext cx="5183188" cy="115244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Модульность: интерфейс, API, аналитический модуль и база данных разделены, что упрощает масштабирование и сопровождение системы.</a:t>
            </a:r>
          </a:p>
        </p:txBody>
      </p:sp>
      <p:sp>
        <p:nvSpPr>
          <p:cNvPr id="17" name="Text 1"/>
          <p:cNvSpPr/>
          <p:nvPr/>
        </p:nvSpPr>
        <p:spPr>
          <a:xfrm>
            <a:off x="511783" y="1814059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8"/>
          <p:cNvSpPr/>
          <p:nvPr/>
        </p:nvSpPr>
        <p:spPr>
          <a:xfrm>
            <a:off x="781070" y="2210262"/>
            <a:ext cx="2035629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UI, карта, формы выбора AOI, запуск анализа, просмотр результатов.</a:t>
            </a:r>
            <a:endParaRPr lang="en-US" sz="1275" dirty="0"/>
          </a:p>
        </p:txBody>
      </p:sp>
      <p:sp>
        <p:nvSpPr>
          <p:cNvPr id="25" name="Text 1"/>
          <p:cNvSpPr/>
          <p:nvPr/>
        </p:nvSpPr>
        <p:spPr>
          <a:xfrm>
            <a:off x="3352695" y="1810215"/>
            <a:ext cx="2471200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9"/>
          <p:cNvSpPr/>
          <p:nvPr/>
        </p:nvSpPr>
        <p:spPr>
          <a:xfrm>
            <a:off x="3444488" y="2210262"/>
            <a:ext cx="218938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REST‑эндпоинты для запросов классификации, получения сцен, статистики и файлов.</a:t>
            </a:r>
            <a:endParaRPr lang="en-US" sz="1275" dirty="0"/>
          </a:p>
        </p:txBody>
      </p:sp>
      <p:sp>
        <p:nvSpPr>
          <p:cNvPr id="28" name="Text 1"/>
          <p:cNvSpPr/>
          <p:nvPr/>
        </p:nvSpPr>
        <p:spPr>
          <a:xfrm>
            <a:off x="6093412" y="1761510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0"/>
          <p:cNvSpPr/>
          <p:nvPr/>
        </p:nvSpPr>
        <p:spPr>
          <a:xfrm>
            <a:off x="6411085" y="2191166"/>
            <a:ext cx="1938857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сцен, запуск моделей MaRS / RNN / LSTM, формирование GeoTIFF и статистики.</a:t>
            </a:r>
            <a:endParaRPr lang="en-US" sz="1275" dirty="0"/>
          </a:p>
        </p:txBody>
      </p:sp>
      <p:sp>
        <p:nvSpPr>
          <p:cNvPr id="29" name="Text 1"/>
          <p:cNvSpPr/>
          <p:nvPr/>
        </p:nvSpPr>
        <p:spPr>
          <a:xfrm>
            <a:off x="8931176" y="1772968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1"/>
          <p:cNvSpPr/>
          <p:nvPr/>
        </p:nvSpPr>
        <p:spPr>
          <a:xfrm>
            <a:off x="9178981" y="2210262"/>
            <a:ext cx="207859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PostgreSQL/PostGIS: пользователи, запросы, сцены, результаты, метрики, классы покрытия.</a:t>
            </a:r>
            <a:endParaRPr lang="en-US" sz="1275" dirty="0"/>
          </a:p>
        </p:txBody>
      </p:sp>
    </p:spTree>
    <p:extLst>
      <p:ext uri="{BB962C8B-B14F-4D97-AF65-F5344CB8AC3E}">
        <p14:creationId xmlns:p14="http://schemas.microsoft.com/office/powerpoint/2010/main" val="370063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Архитектура базы данных</a:t>
            </a:r>
            <a:endParaRPr lang="ru-RU" dirty="0"/>
          </a:p>
        </p:txBody>
      </p:sp>
      <p:sp>
        <p:nvSpPr>
          <p:cNvPr id="9" name="Текст 8"/>
          <p:cNvSpPr>
            <a:spLocks noGrp="1"/>
          </p:cNvSpPr>
          <p:nvPr>
            <p:ph type="body" sz="half" idx="2"/>
          </p:nvPr>
        </p:nvSpPr>
        <p:spPr>
          <a:xfrm>
            <a:off x="962025" y="2552699"/>
            <a:ext cx="4557626" cy="4114107"/>
          </a:xfrm>
        </p:spPr>
        <p:txBody>
          <a:bodyPr>
            <a:normAutofit fontScale="85000" lnSpcReduction="10000"/>
          </a:bodyPr>
          <a:lstStyle/>
          <a:p>
            <a:r>
              <a:rPr lang="ru-RU" dirty="0" smtClean="0">
                <a:solidFill>
                  <a:srgbClr val="1F1F1F"/>
                </a:solidFill>
                <a:latin typeface="+mj-lt"/>
              </a:rPr>
              <a:t>В проекте реализованы следующие </a:t>
            </a:r>
            <a:r>
              <a:rPr lang="ru-RU" dirty="0" err="1" smtClean="0">
                <a:solidFill>
                  <a:srgbClr val="1F1F1F"/>
                </a:solidFill>
                <a:latin typeface="+mj-lt"/>
              </a:rPr>
              <a:t>сущьности</a:t>
            </a:r>
            <a:r>
              <a:rPr lang="ru-RU" dirty="0" smtClean="0">
                <a:solidFill>
                  <a:srgbClr val="1F1F1F"/>
                </a:solidFill>
                <a:latin typeface="+mj-lt"/>
              </a:rPr>
              <a:t>:</a:t>
            </a:r>
            <a:endParaRPr lang="ru-RU" dirty="0">
              <a:solidFill>
                <a:srgbClr val="1F1F1F"/>
              </a:solidFill>
              <a:latin typeface="+mj-lt"/>
            </a:endParaRP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roles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роли пользователей;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users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пользователи системы;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analysis_requests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запросы на анализ;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data_sources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источники спутниковых данных;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satellite_scenes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загруженные спутниковые сцены;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request_scenes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связь между запросом анализа и сценами;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classification_results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результаты классификации;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quality_metrics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метрики качества результата;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land_cover_classes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справочник классов земных покровов;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result_class_stats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статистика по классам для конкретного результата.</a:t>
            </a:r>
          </a:p>
          <a:p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9546" y="0"/>
            <a:ext cx="4959755" cy="684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15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Архитектура </a:t>
            </a:r>
            <a:r>
              <a:rPr lang="ru-RU" dirty="0" err="1" smtClean="0"/>
              <a:t>нейросетевой</a:t>
            </a:r>
            <a:r>
              <a:rPr lang="ru-RU" dirty="0" smtClean="0"/>
              <a:t> модели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9260" y="1626405"/>
            <a:ext cx="8793480" cy="49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395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Сценарии использования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75" y="2044105"/>
            <a:ext cx="10070250" cy="43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4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988177" y="972588"/>
            <a:ext cx="10890712" cy="539635"/>
          </a:xfrm>
        </p:spPr>
        <p:txBody>
          <a:bodyPr/>
          <a:lstStyle/>
          <a:p>
            <a:r>
              <a:rPr lang="ru-RU" dirty="0"/>
              <a:t>Демонстрация работы и интерфейса</a:t>
            </a:r>
          </a:p>
        </p:txBody>
      </p:sp>
      <p:pic>
        <p:nvPicPr>
          <p:cNvPr id="8" name="0512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91101" y="1770639"/>
            <a:ext cx="8233554" cy="4631373"/>
          </a:xfrm>
        </p:spPr>
      </p:pic>
    </p:spTree>
    <p:extLst>
      <p:ext uri="{BB962C8B-B14F-4D97-AF65-F5344CB8AC3E}">
        <p14:creationId xmlns:p14="http://schemas.microsoft.com/office/powerpoint/2010/main" val="192436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и анализ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Достигнутые </a:t>
            </a:r>
            <a:r>
              <a:rPr lang="ru-RU" b="1" dirty="0" smtClean="0"/>
              <a:t>результаты:</a:t>
            </a:r>
            <a:endParaRPr lang="ru-RU" b="1" dirty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Сформированы требования SRS и логика пользовательских сценариев.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Спроектированы архитектура, API и реляционная база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Разработан интерактивный прототип интерфейса платформы.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Определены метрики оценки: </a:t>
            </a:r>
            <a:r>
              <a:rPr lang="ru-RU" dirty="0" err="1"/>
              <a:t>Accuracy</a:t>
            </a:r>
            <a:r>
              <a:rPr lang="ru-RU" dirty="0"/>
              <a:t>, </a:t>
            </a:r>
            <a:r>
              <a:rPr lang="ru-RU" dirty="0" err="1"/>
              <a:t>Kappa</a:t>
            </a:r>
            <a:r>
              <a:rPr lang="ru-RU" dirty="0"/>
              <a:t>, </a:t>
            </a:r>
            <a:r>
              <a:rPr lang="ru-RU" dirty="0" err="1"/>
              <a:t>Mean</a:t>
            </a:r>
            <a:r>
              <a:rPr lang="ru-RU" dirty="0"/>
              <a:t> </a:t>
            </a:r>
            <a:r>
              <a:rPr lang="ru-RU" dirty="0" err="1"/>
              <a:t>IoU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05049"/>
            <a:ext cx="5181600" cy="3826041"/>
          </a:xfrm>
        </p:spPr>
      </p:pic>
    </p:spTree>
    <p:extLst>
      <p:ext uri="{BB962C8B-B14F-4D97-AF65-F5344CB8AC3E}">
        <p14:creationId xmlns:p14="http://schemas.microsoft.com/office/powerpoint/2010/main" val="2508543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Перспективы развития и улучшения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Интеграция дополнительных моделей и источников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Автоматизация серии анализов и сценариев мониторинга изменений.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Расширение ролей пользователей и административных функций.</a:t>
            </a:r>
          </a:p>
          <a:p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Следующий этап</a:t>
            </a:r>
          </a:p>
          <a:p>
            <a:pPr marL="0" indent="0">
              <a:buNone/>
            </a:pPr>
            <a:r>
              <a:rPr lang="ru-RU" dirty="0" smtClean="0"/>
              <a:t>Переход </a:t>
            </a:r>
            <a:r>
              <a:rPr lang="ru-RU" dirty="0"/>
              <a:t>от прототипа к MVP: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 smtClean="0"/>
              <a:t>Промышленный </a:t>
            </a:r>
            <a:r>
              <a:rPr lang="ru-RU" dirty="0" err="1" smtClean="0"/>
              <a:t>backend</a:t>
            </a:r>
            <a:r>
              <a:rPr lang="ru-RU" dirty="0"/>
              <a:t>;</a:t>
            </a:r>
            <a:r>
              <a:rPr lang="ru-RU" dirty="0" smtClean="0"/>
              <a:t>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</a:t>
            </a:r>
            <a:r>
              <a:rPr lang="ru-RU" dirty="0" smtClean="0"/>
              <a:t>олноценная </a:t>
            </a:r>
            <a:r>
              <a:rPr lang="ru-RU" dirty="0"/>
              <a:t>загрузка </a:t>
            </a:r>
            <a:r>
              <a:rPr lang="ru-RU" dirty="0" smtClean="0"/>
              <a:t>сцен;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</a:t>
            </a:r>
            <a:r>
              <a:rPr lang="ru-RU" dirty="0" smtClean="0"/>
              <a:t>асширенное </a:t>
            </a:r>
            <a:r>
              <a:rPr lang="ru-RU" dirty="0"/>
              <a:t>сравнение с эталонными продуктами и модуль отчётности.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4527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 ходе работы спроектирована информационная система для мониторинга и классификации земных покровов, объединяющая выбор AOI, работу со спутниковыми сценами, аналитический модуль, хранение результатов и экспорт данных.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Проект демонстрирует применение принципов управления проектами ИС: от анализа предметной области и требований до архитектурного проектирования, </a:t>
            </a:r>
            <a:r>
              <a:rPr lang="ru-RU" dirty="0" err="1"/>
              <a:t>прототипирования</a:t>
            </a:r>
            <a:r>
              <a:rPr lang="ru-RU" dirty="0"/>
              <a:t> и оценки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2175881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5885B3-B3DE-4564-BDC7-0F959A3F9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05806438"/>
      </p:ext>
    </p:extLst>
  </p:cSld>
  <p:clrMapOvr>
    <a:masterClrMapping/>
  </p:clrMapOvr>
</p:sld>
</file>

<file path=ppt/theme/theme1.xml><?xml version="1.0" encoding="utf-8"?>
<a:theme xmlns:a="http://schemas.openxmlformats.org/drawingml/2006/main" name="Горы днём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2.xml><?xml version="1.0" encoding="utf-8"?>
<a:theme xmlns:a="http://schemas.openxmlformats.org/drawingml/2006/main" name="Горы резко обрываются равниной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3.xml><?xml version="1.0" encoding="utf-8"?>
<a:theme xmlns:a="http://schemas.openxmlformats.org/drawingml/2006/main" name="Лазерная гравировка по стали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EB60DE6F-028E-4872-82DB-DADC663CBDD8}"/>
    </a:ext>
  </a:extLst>
</a:theme>
</file>

<file path=ppt/theme/theme4.xml><?xml version="1.0" encoding="utf-8"?>
<a:theme xmlns:a="http://schemas.openxmlformats.org/drawingml/2006/main" name="Горы плавно переходят в равнину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5.xml><?xml version="1.0" encoding="utf-8"?>
<a:theme xmlns:a="http://schemas.openxmlformats.org/drawingml/2006/main" name="Формула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6.xml><?xml version="1.0" encoding="utf-8"?>
<a:theme xmlns:a="http://schemas.openxmlformats.org/drawingml/2006/main" name="Горы ночью">
  <a:themeElements>
    <a:clrScheme name="Ночной МИИГАиК">
      <a:dk1>
        <a:srgbClr val="FFFFFF"/>
      </a:dk1>
      <a:lt1>
        <a:sysClr val="window" lastClr="FFFFFF"/>
      </a:lt1>
      <a:dk2>
        <a:srgbClr val="FFFFFF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C38CD02F-1156-4645-B207-AB6B5FD4AB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640</Words>
  <Application>Microsoft Office PowerPoint</Application>
  <PresentationFormat>Широкоэкранный</PresentationFormat>
  <Paragraphs>99</Paragraphs>
  <Slides>16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6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Arial</vt:lpstr>
      <vt:lpstr>Montserrat</vt:lpstr>
      <vt:lpstr>Горы днём</vt:lpstr>
      <vt:lpstr>Горы резко обрываются равниной</vt:lpstr>
      <vt:lpstr>Лазерная гравировка по стали</vt:lpstr>
      <vt:lpstr>Горы плавно переходят в равнину</vt:lpstr>
      <vt:lpstr>Формула</vt:lpstr>
      <vt:lpstr>Горы ночью</vt:lpstr>
      <vt:lpstr>Веб‑платформа мониторинга и классификации земных покровов по спутниковым данным  </vt:lpstr>
      <vt:lpstr>   Актуальность проекта   </vt:lpstr>
      <vt:lpstr>Цель и задачи</vt:lpstr>
      <vt:lpstr>Обзор и сравнение аналогов</vt:lpstr>
      <vt:lpstr>Используемые технологии и инструменты</vt:lpstr>
      <vt:lpstr>Компоненты системы</vt:lpstr>
      <vt:lpstr>Последовательность потока данных</vt:lpstr>
      <vt:lpstr>Проектирование и архитектура</vt:lpstr>
      <vt:lpstr>Архитектура базы данных</vt:lpstr>
      <vt:lpstr>Архитектура нейросетевой модели</vt:lpstr>
      <vt:lpstr>Сценарии использования</vt:lpstr>
      <vt:lpstr>Демонстрация работы и интерфейса</vt:lpstr>
      <vt:lpstr>Результаты и анализ</vt:lpstr>
      <vt:lpstr>Перспективы развития и улучшения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Роман Жуков</dc:creator>
  <cp:lastModifiedBy>Din Razar</cp:lastModifiedBy>
  <cp:revision>29</cp:revision>
  <dcterms:created xsi:type="dcterms:W3CDTF">2025-04-17T10:00:13Z</dcterms:created>
  <dcterms:modified xsi:type="dcterms:W3CDTF">2026-06-01T19:17:43Z</dcterms:modified>
</cp:coreProperties>
</file>