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3.xml" ContentType="application/vnd.openxmlformats-officedocument.theme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4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5.xml" ContentType="application/vnd.openxmlformats-officedocument.theme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theme/theme6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72" r:id="rId1"/>
    <p:sldMasterId id="2147483703" r:id="rId2"/>
    <p:sldMasterId id="2147483683" r:id="rId3"/>
    <p:sldMasterId id="2147483693" r:id="rId4"/>
    <p:sldMasterId id="2147483713" r:id="rId5"/>
    <p:sldMasterId id="2147483661" r:id="rId6"/>
  </p:sldMasterIdLst>
  <p:sldIdLst>
    <p:sldId id="261" r:id="rId7"/>
    <p:sldId id="269" r:id="rId8"/>
    <p:sldId id="270" r:id="rId9"/>
    <p:sldId id="271" r:id="rId10"/>
    <p:sldId id="272" r:id="rId11"/>
    <p:sldId id="279" r:id="rId12"/>
    <p:sldId id="280" r:id="rId13"/>
    <p:sldId id="273" r:id="rId14"/>
    <p:sldId id="281" r:id="rId15"/>
    <p:sldId id="282" r:id="rId16"/>
    <p:sldId id="278" r:id="rId17"/>
    <p:sldId id="274" r:id="rId18"/>
    <p:sldId id="275" r:id="rId19"/>
    <p:sldId id="276" r:id="rId20"/>
    <p:sldId id="277" r:id="rId21"/>
    <p:sldId id="260" r:id="rId22"/>
  </p:sldIdLst>
  <p:sldSz cx="12192000" cy="6858000"/>
  <p:notesSz cx="6858000" cy="9144000"/>
  <p:embeddedFontLst>
    <p:embeddedFont>
      <p:font typeface="Montserrat" pitchFamily="2" charset="0"/>
      <p:regular r:id="rId23"/>
      <p:bold r:id="rId24"/>
      <p:italic r:id="rId25"/>
      <p:boldItalic r:id="rId26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A7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492" autoAdjust="0"/>
    <p:restoredTop sz="94660"/>
  </p:normalViewPr>
  <p:slideViewPr>
    <p:cSldViewPr snapToGrid="0">
      <p:cViewPr>
        <p:scale>
          <a:sx n="81" d="100"/>
          <a:sy n="81" d="100"/>
        </p:scale>
        <p:origin x="1704" y="7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font" Target="fonts/font4.fntdata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5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font" Target="fonts/font3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5.xml"/><Relationship Id="rId24" Type="http://schemas.openxmlformats.org/officeDocument/2006/relationships/font" Target="fonts/font2.fntdata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9.xml"/><Relationship Id="rId23" Type="http://schemas.openxmlformats.org/officeDocument/2006/relationships/font" Target="fonts/font1.fntdata"/><Relationship Id="rId28" Type="http://schemas.openxmlformats.org/officeDocument/2006/relationships/viewProps" Target="viewProps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>
            <a:extLst>
              <a:ext uri="{FF2B5EF4-FFF2-40B4-BE49-F238E27FC236}">
                <a16:creationId xmlns:a16="http://schemas.microsoft.com/office/drawing/2014/main" id="{77AA94DD-8B09-4D71-93E2-2A47CF3B7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09A07F3-4BB8-4501-814B-44F9B046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016DFC-1749-45C5-B9D4-EA17887EF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285E8220-DF47-4A5D-9D2C-226F8E9E93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780268"/>
            <a:ext cx="10515600" cy="1928812"/>
          </a:xfrm>
        </p:spPr>
        <p:txBody>
          <a:bodyPr/>
          <a:lstStyle>
            <a:lvl1pPr algn="ctr">
              <a:defRPr/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8" name="Подзаголовок 2">
            <a:extLst>
              <a:ext uri="{FF2B5EF4-FFF2-40B4-BE49-F238E27FC236}">
                <a16:creationId xmlns:a16="http://schemas.microsoft.com/office/drawing/2014/main" id="{B2EB4659-56F5-4EA6-9C66-512C729771E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327752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Подзаголовок презентации</a:t>
            </a:r>
          </a:p>
          <a:p>
            <a:r>
              <a:rPr lang="ru-RU" dirty="0"/>
              <a:t>ФИО, Должность</a:t>
            </a:r>
          </a:p>
        </p:txBody>
      </p:sp>
    </p:spTree>
    <p:extLst>
      <p:ext uri="{BB962C8B-B14F-4D97-AF65-F5344CB8AC3E}">
        <p14:creationId xmlns:p14="http://schemas.microsoft.com/office/powerpoint/2010/main" val="659772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909995-F579-456E-9316-E72DDF615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52498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6A40C2-C876-406E-BFFD-622BE096D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57449"/>
            <a:ext cx="10515600" cy="37195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13C182D-709F-465B-AF27-901673136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AB3355C-8CBD-4210-B1EA-603C9F8C8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6D4A59-E6B6-48A2-8EB4-7CBE23682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71555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664A21-C27C-4ADD-A577-FF154C78F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AED1E7C-2D37-47CE-80E1-0F8237FD64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77402B-ED0D-4291-B668-D71602388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C54190E-B3F9-48F3-9F69-1941830BF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4F76C0A-5A34-4FA0-9319-F70C940B0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04315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C0D310-5D36-4853-BCB5-FD1EC2599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6725"/>
            <a:ext cx="10515600" cy="1636711"/>
          </a:xfrm>
        </p:spPr>
        <p:txBody>
          <a:bodyPr/>
          <a:lstStyle>
            <a:lvl1pPr algn="ctr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B63021C-F208-4AB1-BF82-990D8B8508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05049"/>
            <a:ext cx="5181600" cy="38719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812C175-73CC-4F77-B239-67A8FECAA6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05049"/>
            <a:ext cx="5181600" cy="387191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3D423AB-CE81-4B2E-B1EB-B51726DBD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BAF46B3-014B-4987-817B-D3BB37B74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E1B5573-3BC4-4F6F-8DD5-DC67802BB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982075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4B62CA-29AD-4D57-B70D-ABBCCA990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 algn="r"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23A7739-7DB6-4104-BDFD-318323621A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819274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EAF51B7-EB51-48DF-8DC6-807CC8F2AD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771775"/>
            <a:ext cx="5157787" cy="3417888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0DDF78F-343B-4E14-AF75-80A3535BBE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19274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CA3F889-956B-49DE-BF1D-9F8DEA5B4F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771773"/>
            <a:ext cx="5183188" cy="341788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C789CED-9715-4CB9-86D5-578D712AC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A8B840A-4575-4FBB-B99E-F841CAD90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C305B0-1707-4F62-8C27-D3B0B3716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65637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D09A60-460C-40FA-B5C9-6A229817B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6425"/>
            <a:ext cx="10515600" cy="1325563"/>
          </a:xfrm>
        </p:spPr>
        <p:txBody>
          <a:bodyPr/>
          <a:lstStyle>
            <a:lvl1pPr algn="l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01F81B6-2B85-4183-836C-0C1B1F575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04AB5FF-5AA1-40B5-892B-B89DCB28C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3849EAC-04A8-48AD-90BC-0CAEA2A50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93970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D252C39-8A6D-4258-BBA2-6D0CA36F2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82D441C-D832-4524-BFC9-4A44D6177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11043-9972-46A7-986A-1C298E481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59815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A295E8-7139-486F-8D0F-61AC02F10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1550" y="876300"/>
            <a:ext cx="38004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A5E32D-A062-4956-A04C-7425E382C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A1E72C4-E892-4E2E-874A-731F7DFCA9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71550" y="2656114"/>
            <a:ext cx="3800475" cy="321287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6A0E9D5-1DBB-45E3-AA9C-569CFF25B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B31C424-DA6F-427D-ACB7-998C704C9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C17858C-C53D-4387-8D02-42F291C6A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691130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60C141-D51E-4DBE-9B14-F7DD5AA84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2025" y="820057"/>
            <a:ext cx="3806824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01B6D0E-55CE-457A-B67E-7336CA8FFD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7C5C836-812C-4ECD-9915-D7771C9F27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62025" y="2552700"/>
            <a:ext cx="3810000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A9A34FE-CF97-4CF4-931E-CB11B8F65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2663187-5B4D-4B86-AC59-C9C891FA1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0F7FDA3-DE77-458E-8151-34420F888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19386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>
            <a:extLst>
              <a:ext uri="{FF2B5EF4-FFF2-40B4-BE49-F238E27FC236}">
                <a16:creationId xmlns:a16="http://schemas.microsoft.com/office/drawing/2014/main" id="{77AA94DD-8B09-4D71-93E2-2A47CF3B7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09A07F3-4BB8-4501-814B-44F9B046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016DFC-1749-45C5-B9D4-EA17887EF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285E8220-DF47-4A5D-9D2C-226F8E9E93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780268"/>
            <a:ext cx="10515600" cy="1928812"/>
          </a:xfrm>
        </p:spPr>
        <p:txBody>
          <a:bodyPr/>
          <a:lstStyle>
            <a:lvl1pPr algn="ctr">
              <a:defRPr/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8" name="Подзаголовок 2">
            <a:extLst>
              <a:ext uri="{FF2B5EF4-FFF2-40B4-BE49-F238E27FC236}">
                <a16:creationId xmlns:a16="http://schemas.microsoft.com/office/drawing/2014/main" id="{B2EB4659-56F5-4EA6-9C66-512C729771E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327752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Подзаголовок презентации</a:t>
            </a:r>
          </a:p>
          <a:p>
            <a:r>
              <a:rPr lang="ru-RU" dirty="0"/>
              <a:t>ФИО, Должность</a:t>
            </a:r>
          </a:p>
        </p:txBody>
      </p:sp>
    </p:spTree>
    <p:extLst>
      <p:ext uri="{BB962C8B-B14F-4D97-AF65-F5344CB8AC3E}">
        <p14:creationId xmlns:p14="http://schemas.microsoft.com/office/powerpoint/2010/main" val="7647090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909995-F579-456E-9316-E72DDF615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52498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6A40C2-C876-406E-BFFD-622BE096D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57449"/>
            <a:ext cx="10515600" cy="37195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13C182D-709F-465B-AF27-901673136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AB3355C-8CBD-4210-B1EA-603C9F8C8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6D4A59-E6B6-48A2-8EB4-7CBE23682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52211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664A21-C27C-4ADD-A577-FF154C78F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AED1E7C-2D37-47CE-80E1-0F8237FD64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77402B-ED0D-4291-B668-D71602388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C54190E-B3F9-48F3-9F69-1941830BF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4F76C0A-5A34-4FA0-9319-F70C940B0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04971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C0D310-5D36-4853-BCB5-FD1EC2599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6725"/>
            <a:ext cx="10515600" cy="1636711"/>
          </a:xfrm>
        </p:spPr>
        <p:txBody>
          <a:bodyPr/>
          <a:lstStyle>
            <a:lvl1pPr algn="ctr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B63021C-F208-4AB1-BF82-990D8B8508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05049"/>
            <a:ext cx="5181600" cy="38719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812C175-73CC-4F77-B239-67A8FECAA6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05049"/>
            <a:ext cx="5181600" cy="387191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3D423AB-CE81-4B2E-B1EB-B51726DBD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BAF46B3-014B-4987-817B-D3BB37B74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E1B5573-3BC4-4F6F-8DD5-DC67802BB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8217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4B62CA-29AD-4D57-B70D-ABBCCA990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 algn="r"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23A7739-7DB6-4104-BDFD-318323621A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819274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EAF51B7-EB51-48DF-8DC6-807CC8F2AD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771775"/>
            <a:ext cx="5157787" cy="3417888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0DDF78F-343B-4E14-AF75-80A3535BBE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19274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CA3F889-956B-49DE-BF1D-9F8DEA5B4F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771773"/>
            <a:ext cx="5183188" cy="341788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C789CED-9715-4CB9-86D5-578D712AC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A8B840A-4575-4FBB-B99E-F841CAD90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C305B0-1707-4F62-8C27-D3B0B3716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0684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D09A60-460C-40FA-B5C9-6A229817B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6425"/>
            <a:ext cx="10515600" cy="1325563"/>
          </a:xfrm>
        </p:spPr>
        <p:txBody>
          <a:bodyPr/>
          <a:lstStyle>
            <a:lvl1pPr algn="l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01F81B6-2B85-4183-836C-0C1B1F575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04AB5FF-5AA1-40B5-892B-B89DCB28C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3849EAC-04A8-48AD-90BC-0CAEA2A50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285018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D252C39-8A6D-4258-BBA2-6D0CA36F2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82D441C-D832-4524-BFC9-4A44D6177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11043-9972-46A7-986A-1C298E481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515057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A295E8-7139-486F-8D0F-61AC02F10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1550" y="876300"/>
            <a:ext cx="38004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A5E32D-A062-4956-A04C-7425E382C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A1E72C4-E892-4E2E-874A-731F7DFCA9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71550" y="2656114"/>
            <a:ext cx="3800475" cy="321287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6A0E9D5-1DBB-45E3-AA9C-569CFF25B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B31C424-DA6F-427D-ACB7-998C704C9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C17858C-C53D-4387-8D02-42F291C6A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46435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60C141-D51E-4DBE-9B14-F7DD5AA84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2025" y="820057"/>
            <a:ext cx="3806824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01B6D0E-55CE-457A-B67E-7336CA8FFD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7C5C836-812C-4ECD-9915-D7771C9F27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62025" y="2552700"/>
            <a:ext cx="3810000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A9A34FE-CF97-4CF4-931E-CB11B8F65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2663187-5B4D-4B86-AC59-C9C891FA1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0F7FDA3-DE77-458E-8151-34420F888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191872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>
            <a:extLst>
              <a:ext uri="{FF2B5EF4-FFF2-40B4-BE49-F238E27FC236}">
                <a16:creationId xmlns:a16="http://schemas.microsoft.com/office/drawing/2014/main" id="{77AA94DD-8B09-4D71-93E2-2A47CF3B7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09A07F3-4BB8-4501-814B-44F9B046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016DFC-1749-45C5-B9D4-EA17887EF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68D8E887-6788-4EF2-8725-E4E97197F4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780268"/>
            <a:ext cx="10515600" cy="1928812"/>
          </a:xfrm>
        </p:spPr>
        <p:txBody>
          <a:bodyPr/>
          <a:lstStyle>
            <a:lvl1pPr algn="ctr">
              <a:defRPr/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8" name="Подзаголовок 2">
            <a:extLst>
              <a:ext uri="{FF2B5EF4-FFF2-40B4-BE49-F238E27FC236}">
                <a16:creationId xmlns:a16="http://schemas.microsoft.com/office/drawing/2014/main" id="{2F3206E9-58DF-4D91-B0A9-8204642B0A2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327752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Подзаголовок презентации</a:t>
            </a:r>
          </a:p>
          <a:p>
            <a:r>
              <a:rPr lang="ru-RU" dirty="0"/>
              <a:t>ФИО, Должность</a:t>
            </a:r>
          </a:p>
        </p:txBody>
      </p:sp>
    </p:spTree>
    <p:extLst>
      <p:ext uri="{BB962C8B-B14F-4D97-AF65-F5344CB8AC3E}">
        <p14:creationId xmlns:p14="http://schemas.microsoft.com/office/powerpoint/2010/main" val="106700765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909995-F579-456E-9316-E72DDF615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52498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6A40C2-C876-406E-BFFD-622BE096D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57449"/>
            <a:ext cx="10515600" cy="37195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13C182D-709F-465B-AF27-901673136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AB3355C-8CBD-4210-B1EA-603C9F8C8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6D4A59-E6B6-48A2-8EB4-7CBE23682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59947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664A21-C27C-4ADD-A577-FF154C78F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AED1E7C-2D37-47CE-80E1-0F8237FD64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77402B-ED0D-4291-B668-D71602388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C54190E-B3F9-48F3-9F69-1941830BF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4F76C0A-5A34-4FA0-9319-F70C940B0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52177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C0D310-5D36-4853-BCB5-FD1EC2599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6725"/>
            <a:ext cx="10515600" cy="1636711"/>
          </a:xfrm>
        </p:spPr>
        <p:txBody>
          <a:bodyPr/>
          <a:lstStyle>
            <a:lvl1pPr algn="r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B63021C-F208-4AB1-BF82-990D8B8508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05049"/>
            <a:ext cx="5181600" cy="38719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812C175-73CC-4F77-B239-67A8FECAA6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05049"/>
            <a:ext cx="5181600" cy="387191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3D423AB-CE81-4B2E-B1EB-B51726DBD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BAF46B3-014B-4987-817B-D3BB37B74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E1B5573-3BC4-4F6F-8DD5-DC67802BB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48137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4B62CA-29AD-4D57-B70D-ABBCCA990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 algn="r"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23A7739-7DB6-4104-BDFD-318323621A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819274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EAF51B7-EB51-48DF-8DC6-807CC8F2AD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771775"/>
            <a:ext cx="5157787" cy="3417888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0DDF78F-343B-4E14-AF75-80A3535BBE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19274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CA3F889-956B-49DE-BF1D-9F8DEA5B4F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771773"/>
            <a:ext cx="5183188" cy="341788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C789CED-9715-4CB9-86D5-578D712AC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A8B840A-4575-4FBB-B99E-F841CAD90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C305B0-1707-4F62-8C27-D3B0B3716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096366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D09A60-460C-40FA-B5C9-6A229817B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6425"/>
            <a:ext cx="10515600" cy="1325563"/>
          </a:xfrm>
        </p:spPr>
        <p:txBody>
          <a:bodyPr/>
          <a:lstStyle>
            <a:lvl1pPr algn="l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01F81B6-2B85-4183-836C-0C1B1F575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04AB5FF-5AA1-40B5-892B-B89DCB28C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3849EAC-04A8-48AD-90BC-0CAEA2A50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402643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D252C39-8A6D-4258-BBA2-6D0CA36F2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82D441C-D832-4524-BFC9-4A44D6177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11043-9972-46A7-986A-1C298E481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180977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A295E8-7139-486F-8D0F-61AC02F10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1550" y="876300"/>
            <a:ext cx="38004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A5E32D-A062-4956-A04C-7425E382C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A1E72C4-E892-4E2E-874A-731F7DFCA9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71550" y="2656114"/>
            <a:ext cx="3800475" cy="321287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6A0E9D5-1DBB-45E3-AA9C-569CFF25B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B31C424-DA6F-427D-ACB7-998C704C9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C17858C-C53D-4387-8D02-42F291C6A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474048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60C141-D51E-4DBE-9B14-F7DD5AA84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2025" y="820057"/>
            <a:ext cx="3806824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01B6D0E-55CE-457A-B67E-7336CA8FFD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7C5C836-812C-4ECD-9915-D7771C9F27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62025" y="2552700"/>
            <a:ext cx="3810000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A9A34FE-CF97-4CF4-931E-CB11B8F65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2663187-5B4D-4B86-AC59-C9C891FA1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0F7FDA3-DE77-458E-8151-34420F888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037459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>
            <a:extLst>
              <a:ext uri="{FF2B5EF4-FFF2-40B4-BE49-F238E27FC236}">
                <a16:creationId xmlns:a16="http://schemas.microsoft.com/office/drawing/2014/main" id="{77AA94DD-8B09-4D71-93E2-2A47CF3B7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09A07F3-4BB8-4501-814B-44F9B046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016DFC-1749-45C5-B9D4-EA17887EF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42CEF30B-FF05-407E-AC4B-2553FA8FD3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780268"/>
            <a:ext cx="10515600" cy="1928812"/>
          </a:xfrm>
        </p:spPr>
        <p:txBody>
          <a:bodyPr/>
          <a:lstStyle>
            <a:lvl1pPr algn="ctr">
              <a:defRPr/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8" name="Подзаголовок 2">
            <a:extLst>
              <a:ext uri="{FF2B5EF4-FFF2-40B4-BE49-F238E27FC236}">
                <a16:creationId xmlns:a16="http://schemas.microsoft.com/office/drawing/2014/main" id="{89C63741-6A59-4713-9EC7-815CE5F0AF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327752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Подзаголовок презентации</a:t>
            </a:r>
          </a:p>
          <a:p>
            <a:r>
              <a:rPr lang="ru-RU" dirty="0"/>
              <a:t>ФИО, Должность</a:t>
            </a:r>
          </a:p>
        </p:txBody>
      </p:sp>
    </p:spTree>
    <p:extLst>
      <p:ext uri="{BB962C8B-B14F-4D97-AF65-F5344CB8AC3E}">
        <p14:creationId xmlns:p14="http://schemas.microsoft.com/office/powerpoint/2010/main" val="328894513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909995-F579-456E-9316-E72DDF615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52498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6A40C2-C876-406E-BFFD-622BE096D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57449"/>
            <a:ext cx="10515600" cy="37195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13C182D-709F-465B-AF27-901673136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AB3355C-8CBD-4210-B1EA-603C9F8C8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6D4A59-E6B6-48A2-8EB4-7CBE23682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720247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664A21-C27C-4ADD-A577-FF154C78F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AED1E7C-2D37-47CE-80E1-0F8237FD64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77402B-ED0D-4291-B668-D71602388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C54190E-B3F9-48F3-9F69-1941830BF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4F76C0A-5A34-4FA0-9319-F70C940B0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316758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C0D310-5D36-4853-BCB5-FD1EC2599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6725"/>
            <a:ext cx="10515600" cy="1636711"/>
          </a:xfrm>
        </p:spPr>
        <p:txBody>
          <a:bodyPr/>
          <a:lstStyle>
            <a:lvl1pPr algn="r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B63021C-F208-4AB1-BF82-990D8B8508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05049"/>
            <a:ext cx="5181600" cy="38719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812C175-73CC-4F77-B239-67A8FECAA6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05049"/>
            <a:ext cx="5181600" cy="387191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3D423AB-CE81-4B2E-B1EB-B51726DBD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BAF46B3-014B-4987-817B-D3BB37B74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E1B5573-3BC4-4F6F-8DD5-DC67802BB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49022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4B62CA-29AD-4D57-B70D-ABBCCA990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 algn="r"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23A7739-7DB6-4104-BDFD-318323621A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819274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EAF51B7-EB51-48DF-8DC6-807CC8F2AD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771775"/>
            <a:ext cx="5157787" cy="3417888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0DDF78F-343B-4E14-AF75-80A3535BBE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19274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CA3F889-956B-49DE-BF1D-9F8DEA5B4F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771773"/>
            <a:ext cx="5183188" cy="341788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C789CED-9715-4CB9-86D5-578D712AC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A8B840A-4575-4FBB-B99E-F841CAD90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C305B0-1707-4F62-8C27-D3B0B3716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66386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D09A60-460C-40FA-B5C9-6A229817B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6425"/>
            <a:ext cx="10515600" cy="1325563"/>
          </a:xfrm>
        </p:spPr>
        <p:txBody>
          <a:bodyPr/>
          <a:lstStyle>
            <a:lvl1pPr algn="l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01F81B6-2B85-4183-836C-0C1B1F575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04AB5FF-5AA1-40B5-892B-B89DCB28C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3849EAC-04A8-48AD-90BC-0CAEA2A50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218333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D252C39-8A6D-4258-BBA2-6D0CA36F2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82D441C-D832-4524-BFC9-4A44D6177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11043-9972-46A7-986A-1C298E481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090878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A295E8-7139-486F-8D0F-61AC02F10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1550" y="876300"/>
            <a:ext cx="38004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A5E32D-A062-4956-A04C-7425E382C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A1E72C4-E892-4E2E-874A-731F7DFCA9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71550" y="2656114"/>
            <a:ext cx="3800475" cy="321287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6A0E9D5-1DBB-45E3-AA9C-569CFF25B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B31C424-DA6F-427D-ACB7-998C704C9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C17858C-C53D-4387-8D02-42F291C6A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35778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60C141-D51E-4DBE-9B14-F7DD5AA84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2025" y="820057"/>
            <a:ext cx="3806824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01B6D0E-55CE-457A-B67E-7336CA8FFD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7C5C836-812C-4ECD-9915-D7771C9F27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62025" y="2552700"/>
            <a:ext cx="3810000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A9A34FE-CF97-4CF4-931E-CB11B8F65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2663187-5B4D-4B86-AC59-C9C891FA1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0F7FDA3-DE77-458E-8151-34420F888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536685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>
            <a:extLst>
              <a:ext uri="{FF2B5EF4-FFF2-40B4-BE49-F238E27FC236}">
                <a16:creationId xmlns:a16="http://schemas.microsoft.com/office/drawing/2014/main" id="{77AA94DD-8B09-4D71-93E2-2A47CF3B7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09A07F3-4BB8-4501-814B-44F9B046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016DFC-1749-45C5-B9D4-EA17887EF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42CEF30B-FF05-407E-AC4B-2553FA8FD3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780268"/>
            <a:ext cx="10515600" cy="1928812"/>
          </a:xfrm>
        </p:spPr>
        <p:txBody>
          <a:bodyPr/>
          <a:lstStyle>
            <a:lvl1pPr algn="ctr">
              <a:defRPr/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8" name="Подзаголовок 2">
            <a:extLst>
              <a:ext uri="{FF2B5EF4-FFF2-40B4-BE49-F238E27FC236}">
                <a16:creationId xmlns:a16="http://schemas.microsoft.com/office/drawing/2014/main" id="{89C63741-6A59-4713-9EC7-815CE5F0AF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327752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Подзаголовок презентации</a:t>
            </a:r>
          </a:p>
          <a:p>
            <a:r>
              <a:rPr lang="ru-RU" dirty="0"/>
              <a:t>ФИО, Должность</a:t>
            </a:r>
          </a:p>
        </p:txBody>
      </p:sp>
    </p:spTree>
    <p:extLst>
      <p:ext uri="{BB962C8B-B14F-4D97-AF65-F5344CB8AC3E}">
        <p14:creationId xmlns:p14="http://schemas.microsoft.com/office/powerpoint/2010/main" val="255854498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909995-F579-456E-9316-E72DDF615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52498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6A40C2-C876-406E-BFFD-622BE096D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57449"/>
            <a:ext cx="10515600" cy="37195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13C182D-709F-465B-AF27-901673136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AB3355C-8CBD-4210-B1EA-603C9F8C8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6D4A59-E6B6-48A2-8EB4-7CBE23682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695141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664A21-C27C-4ADD-A577-FF154C78F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AED1E7C-2D37-47CE-80E1-0F8237FD64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77402B-ED0D-4291-B668-D71602388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C54190E-B3F9-48F3-9F69-1941830BF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4F76C0A-5A34-4FA0-9319-F70C940B0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885135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C0D310-5D36-4853-BCB5-FD1EC2599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6725"/>
            <a:ext cx="10515600" cy="1636711"/>
          </a:xfrm>
        </p:spPr>
        <p:txBody>
          <a:bodyPr/>
          <a:lstStyle>
            <a:lvl1pPr algn="r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B63021C-F208-4AB1-BF82-990D8B8508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05049"/>
            <a:ext cx="5181600" cy="38719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812C175-73CC-4F77-B239-67A8FECAA6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05049"/>
            <a:ext cx="5181600" cy="387191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3D423AB-CE81-4B2E-B1EB-B51726DBD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BAF46B3-014B-4987-817B-D3BB37B74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E1B5573-3BC4-4F6F-8DD5-DC67802BB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9741745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4B62CA-29AD-4D57-B70D-ABBCCA990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 algn="r"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23A7739-7DB6-4104-BDFD-318323621A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819274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EAF51B7-EB51-48DF-8DC6-807CC8F2AD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771775"/>
            <a:ext cx="5157787" cy="3417888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0DDF78F-343B-4E14-AF75-80A3535BBE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19274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CA3F889-956B-49DE-BF1D-9F8DEA5B4F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771773"/>
            <a:ext cx="5183188" cy="341788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C789CED-9715-4CB9-86D5-578D712AC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A8B840A-4575-4FBB-B99E-F841CAD90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C305B0-1707-4F62-8C27-D3B0B3716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908254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D09A60-460C-40FA-B5C9-6A229817B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6425"/>
            <a:ext cx="10515600" cy="1325563"/>
          </a:xfrm>
        </p:spPr>
        <p:txBody>
          <a:bodyPr/>
          <a:lstStyle>
            <a:lvl1pPr algn="l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01F81B6-2B85-4183-836C-0C1B1F575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04AB5FF-5AA1-40B5-892B-B89DCB28C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3849EAC-04A8-48AD-90BC-0CAEA2A50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026140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D252C39-8A6D-4258-BBA2-6D0CA36F2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82D441C-D832-4524-BFC9-4A44D6177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11043-9972-46A7-986A-1C298E481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3537746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A295E8-7139-486F-8D0F-61AC02F10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1550" y="876300"/>
            <a:ext cx="38004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A5E32D-A062-4956-A04C-7425E382C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A1E72C4-E892-4E2E-874A-731F7DFCA9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71550" y="2656114"/>
            <a:ext cx="3800475" cy="321287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6A0E9D5-1DBB-45E3-AA9C-569CFF25B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B31C424-DA6F-427D-ACB7-998C704C9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C17858C-C53D-4387-8D02-42F291C6A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722906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60C141-D51E-4DBE-9B14-F7DD5AA84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2025" y="820057"/>
            <a:ext cx="3806824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01B6D0E-55CE-457A-B67E-7336CA8FFD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7C5C836-812C-4ECD-9915-D7771C9F27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62025" y="2552700"/>
            <a:ext cx="3810000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A9A34FE-CF97-4CF4-931E-CB11B8F65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2663187-5B4D-4B86-AC59-C9C891FA1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0F7FDA3-DE77-458E-8151-34420F888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647024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Название презентац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B9407E-41C3-40ED-85C3-4F4AC310C9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780268"/>
            <a:ext cx="10515600" cy="1928812"/>
          </a:xfrm>
        </p:spPr>
        <p:txBody>
          <a:bodyPr/>
          <a:lstStyle>
            <a:lvl1pPr algn="ctr">
              <a:defRPr/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3D66044-C392-47A5-889F-A4F90FD21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pPr/>
              <a:t>02.06.2026</a:t>
            </a:fld>
            <a:endParaRPr lang="ru-RU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1DF13AC-6E1E-4952-A845-6B362839D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48ACDA3-E292-470D-9120-E50EBB6B3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7" name="Подзаголовок 2">
            <a:extLst>
              <a:ext uri="{FF2B5EF4-FFF2-40B4-BE49-F238E27FC236}">
                <a16:creationId xmlns:a16="http://schemas.microsoft.com/office/drawing/2014/main" id="{9BC5BAF7-EFF7-4D86-8301-BE8F3D3FEB9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327752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Подзаголовок презентации</a:t>
            </a:r>
          </a:p>
          <a:p>
            <a:r>
              <a:rPr lang="ru-RU" dirty="0"/>
              <a:t>ФИО, Должность</a:t>
            </a:r>
          </a:p>
        </p:txBody>
      </p:sp>
    </p:spTree>
    <p:extLst>
      <p:ext uri="{BB962C8B-B14F-4D97-AF65-F5344CB8AC3E}">
        <p14:creationId xmlns:p14="http://schemas.microsoft.com/office/powerpoint/2010/main" val="399320641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143B20-A1B6-44D1-BB04-ED9151FA2C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FDBDE35-63AF-45E9-A900-BE347A7628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7AA94DD-8B09-4D71-93E2-2A47CF3B7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09A07F3-4BB8-4501-814B-44F9B046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016DFC-1749-45C5-B9D4-EA17887EF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610868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909995-F579-456E-9316-E72DDF615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52498"/>
            <a:ext cx="10515600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6A40C2-C876-406E-BFFD-622BE096D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57449"/>
            <a:ext cx="10515600" cy="37195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13C182D-709F-465B-AF27-901673136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AB3355C-8CBD-4210-B1EA-603C9F8C8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6D4A59-E6B6-48A2-8EB4-7CBE23682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8000101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664A21-C27C-4ADD-A577-FF154C78F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AED1E7C-2D37-47CE-80E1-0F8237FD64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77402B-ED0D-4291-B668-D71602388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C54190E-B3F9-48F3-9F69-1941830BF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4F76C0A-5A34-4FA0-9319-F70C940B0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58964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C0D310-5D36-4853-BCB5-FD1EC2599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6725"/>
            <a:ext cx="10515600" cy="1636711"/>
          </a:xfrm>
        </p:spPr>
        <p:txBody>
          <a:bodyPr/>
          <a:lstStyle>
            <a:lvl1pPr algn="r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B63021C-F208-4AB1-BF82-990D8B8508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05049"/>
            <a:ext cx="5181600" cy="38719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812C175-73CC-4F77-B239-67A8FECAA6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05049"/>
            <a:ext cx="5181600" cy="387191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3D423AB-CE81-4B2E-B1EB-B51726DBD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BAF46B3-014B-4987-817B-D3BB37B74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E1B5573-3BC4-4F6F-8DD5-DC67802BB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628511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4B62CA-29AD-4D57-B70D-ABBCCA990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 algn="r"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23A7739-7DB6-4104-BDFD-318323621A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819274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EAF51B7-EB51-48DF-8DC6-807CC8F2AD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771775"/>
            <a:ext cx="5157787" cy="3417888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0DDF78F-343B-4E14-AF75-80A3535BBE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19274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CA3F889-956B-49DE-BF1D-9F8DEA5B4F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771773"/>
            <a:ext cx="5183188" cy="341788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C789CED-9715-4CB9-86D5-578D712AC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A8B840A-4575-4FBB-B99E-F841CAD90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C305B0-1707-4F62-8C27-D3B0B3716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429676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D09A60-460C-40FA-B5C9-6A229817B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6425"/>
            <a:ext cx="10515600" cy="1325563"/>
          </a:xfrm>
        </p:spPr>
        <p:txBody>
          <a:bodyPr/>
          <a:lstStyle>
            <a:lvl1pPr algn="l">
              <a:defRPr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01F81B6-2B85-4183-836C-0C1B1F575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04AB5FF-5AA1-40B5-892B-B89DCB28C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3849EAC-04A8-48AD-90BC-0CAEA2A50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7249952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D252C39-8A6D-4258-BBA2-6D0CA36F2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82D441C-D832-4524-BFC9-4A44D6177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11043-9972-46A7-986A-1C298E481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6467547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A295E8-7139-486F-8D0F-61AC02F10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1550" y="876300"/>
            <a:ext cx="38004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A5E32D-A062-4956-A04C-7425E382C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A1E72C4-E892-4E2E-874A-731F7DFCA9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71550" y="2656114"/>
            <a:ext cx="3800475" cy="321287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6A0E9D5-1DBB-45E3-AA9C-569CFF25B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B31C424-DA6F-427D-ACB7-998C704C9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C17858C-C53D-4387-8D02-42F291C6A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213143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60C141-D51E-4DBE-9B14-F7DD5AA84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2025" y="820057"/>
            <a:ext cx="3806824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01B6D0E-55CE-457A-B67E-7336CA8FFD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7C5C836-812C-4ECD-9915-D7771C9F27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62025" y="2552700"/>
            <a:ext cx="3810000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A9A34FE-CF97-4CF4-931E-CB11B8F65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72F0-34D4-4635-92C6-3A38628EF8C8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2663187-5B4D-4B86-AC59-C9C891FA1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0F7FDA3-DE77-458E-8151-34420F888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0FE3E-6460-4EC4-8C5D-83C27D7766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02010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image" Target="../media/image3.png"/><Relationship Id="rId5" Type="http://schemas.openxmlformats.org/officeDocument/2006/relationships/slideLayout" Target="../slideLayouts/slideLayout14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image" Target="../media/image4.png"/><Relationship Id="rId5" Type="http://schemas.openxmlformats.org/officeDocument/2006/relationships/slideLayout" Target="../slideLayouts/slideLayout23.xml"/><Relationship Id="rId10" Type="http://schemas.openxmlformats.org/officeDocument/2006/relationships/theme" Target="../theme/theme3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0.xml"/><Relationship Id="rId7" Type="http://schemas.openxmlformats.org/officeDocument/2006/relationships/slideLayout" Target="../slideLayouts/slideLayout34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9.xml"/><Relationship Id="rId1" Type="http://schemas.openxmlformats.org/officeDocument/2006/relationships/slideLayout" Target="../slideLayouts/slideLayout28.xml"/><Relationship Id="rId6" Type="http://schemas.openxmlformats.org/officeDocument/2006/relationships/slideLayout" Target="../slideLayouts/slideLayout33.xml"/><Relationship Id="rId11" Type="http://schemas.openxmlformats.org/officeDocument/2006/relationships/image" Target="../media/image5.png"/><Relationship Id="rId5" Type="http://schemas.openxmlformats.org/officeDocument/2006/relationships/slideLayout" Target="../slideLayouts/slideLayout32.xml"/><Relationship Id="rId10" Type="http://schemas.openxmlformats.org/officeDocument/2006/relationships/theme" Target="../theme/theme4.xml"/><Relationship Id="rId4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6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3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3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1" Type="http://schemas.openxmlformats.org/officeDocument/2006/relationships/image" Target="../media/image6.png"/><Relationship Id="rId5" Type="http://schemas.openxmlformats.org/officeDocument/2006/relationships/slideLayout" Target="../slideLayouts/slideLayout41.xml"/><Relationship Id="rId10" Type="http://schemas.openxmlformats.org/officeDocument/2006/relationships/theme" Target="../theme/theme5.xml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3.xml"/><Relationship Id="rId13" Type="http://schemas.openxmlformats.org/officeDocument/2006/relationships/image" Target="../media/image8.png"/><Relationship Id="rId3" Type="http://schemas.openxmlformats.org/officeDocument/2006/relationships/slideLayout" Target="../slideLayouts/slideLayout48.xml"/><Relationship Id="rId7" Type="http://schemas.openxmlformats.org/officeDocument/2006/relationships/slideLayout" Target="../slideLayouts/slideLayout52.xml"/><Relationship Id="rId12" Type="http://schemas.openxmlformats.org/officeDocument/2006/relationships/image" Target="../media/image7.png"/><Relationship Id="rId2" Type="http://schemas.openxmlformats.org/officeDocument/2006/relationships/slideLayout" Target="../slideLayouts/slideLayout47.xml"/><Relationship Id="rId1" Type="http://schemas.openxmlformats.org/officeDocument/2006/relationships/slideLayout" Target="../slideLayouts/slideLayout46.xml"/><Relationship Id="rId6" Type="http://schemas.openxmlformats.org/officeDocument/2006/relationships/slideLayout" Target="../slideLayouts/slideLayout51.xml"/><Relationship Id="rId11" Type="http://schemas.openxmlformats.org/officeDocument/2006/relationships/theme" Target="../theme/theme6.xml"/><Relationship Id="rId5" Type="http://schemas.openxmlformats.org/officeDocument/2006/relationships/slideLayout" Target="../slideLayouts/slideLayout50.xml"/><Relationship Id="rId10" Type="http://schemas.openxmlformats.org/officeDocument/2006/relationships/slideLayout" Target="../slideLayouts/slideLayout55.xml"/><Relationship Id="rId4" Type="http://schemas.openxmlformats.org/officeDocument/2006/relationships/slideLayout" Target="../slideLayouts/slideLayout49.xml"/><Relationship Id="rId9" Type="http://schemas.openxmlformats.org/officeDocument/2006/relationships/slideLayout" Target="../slideLayouts/slideLayout5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F3E0E-1A2B-4C5A-89D9-F5BCF153B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6332"/>
            <a:ext cx="1051559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35348CB-3293-4D91-921C-7D5AEDED7A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476501"/>
            <a:ext cx="10515600" cy="37004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E808D9-76BD-4533-AF64-87EB65DA7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2DB472F0-34D4-4635-92C6-3A38628EF8C8}" type="datetimeFigureOut">
              <a:rPr lang="ru-RU" smtClean="0"/>
              <a:pPr/>
              <a:t>02.06.2026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7C71667-E85B-4588-8A68-9857B2E807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Montserrat" pitchFamily="2" charset="-52"/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2CBE73A-2805-4759-A150-56F0523354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90FE3E-6460-4EC4-8C5D-83C27D7766BF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3A7278-5F93-4C66-B83F-288284DCB0D3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175766"/>
            <a:ext cx="2501716" cy="700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4844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1A7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F3E0E-1A2B-4C5A-89D9-F5BCF153B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6332"/>
            <a:ext cx="1051559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35348CB-3293-4D91-921C-7D5AEDED7A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476501"/>
            <a:ext cx="10515600" cy="37004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E808D9-76BD-4533-AF64-87EB65DA7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2DB472F0-34D4-4635-92C6-3A38628EF8C8}" type="datetimeFigureOut">
              <a:rPr lang="ru-RU" smtClean="0"/>
              <a:pPr/>
              <a:t>02.06.2026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7C71667-E85B-4588-8A68-9857B2E807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Montserrat" pitchFamily="2" charset="-52"/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2CBE73A-2805-4759-A150-56F0523354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90FE3E-6460-4EC4-8C5D-83C27D7766BF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3A7278-5F93-4C66-B83F-288284DCB0D3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175766"/>
            <a:ext cx="2501716" cy="700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04756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05" r:id="rId2"/>
    <p:sldLayoutId id="2147483706" r:id="rId3"/>
    <p:sldLayoutId id="2147483707" r:id="rId4"/>
    <p:sldLayoutId id="2147483708" r:id="rId5"/>
    <p:sldLayoutId id="2147483709" r:id="rId6"/>
    <p:sldLayoutId id="2147483710" r:id="rId7"/>
    <p:sldLayoutId id="2147483711" r:id="rId8"/>
    <p:sldLayoutId id="2147483712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1A7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F3E0E-1A2B-4C5A-89D9-F5BCF153B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6332"/>
            <a:ext cx="1051559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35348CB-3293-4D91-921C-7D5AEDED7A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476501"/>
            <a:ext cx="10515600" cy="37004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E808D9-76BD-4533-AF64-87EB65DA7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2DB472F0-34D4-4635-92C6-3A38628EF8C8}" type="datetimeFigureOut">
              <a:rPr lang="ru-RU" smtClean="0"/>
              <a:pPr/>
              <a:t>02.06.2026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7C71667-E85B-4588-8A68-9857B2E807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2CBE73A-2805-4759-A150-56F0523354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90FE3E-6460-4EC4-8C5D-83C27D7766BF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3A7278-5F93-4C66-B83F-288284DCB0D3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175766"/>
            <a:ext cx="2501716" cy="700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0254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1A7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F3E0E-1A2B-4C5A-89D9-F5BCF153B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6332"/>
            <a:ext cx="1051559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35348CB-3293-4D91-921C-7D5AEDED7A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476501"/>
            <a:ext cx="10515600" cy="37004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E808D9-76BD-4533-AF64-87EB65DA7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j-lt"/>
              </a:defRPr>
            </a:lvl1pPr>
          </a:lstStyle>
          <a:p>
            <a:fld id="{2DB472F0-34D4-4635-92C6-3A38628EF8C8}" type="datetimeFigureOut">
              <a:rPr lang="ru-RU" smtClean="0"/>
              <a:pPr/>
              <a:t>02.06.2026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7C71667-E85B-4588-8A68-9857B2E807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j-lt"/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2CBE73A-2805-4759-A150-56F0523354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j-lt"/>
              </a:defRPr>
            </a:lvl1pPr>
          </a:lstStyle>
          <a:p>
            <a:fld id="{F790FE3E-6460-4EC4-8C5D-83C27D7766BF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3A7278-5F93-4C66-B83F-288284DCB0D3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175766"/>
            <a:ext cx="2501716" cy="700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3985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9" r:id="rId6"/>
    <p:sldLayoutId id="2147483700" r:id="rId7"/>
    <p:sldLayoutId id="2147483701" r:id="rId8"/>
    <p:sldLayoutId id="2147483702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1A7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F3E0E-1A2B-4C5A-89D9-F5BCF153B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6332"/>
            <a:ext cx="1051559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35348CB-3293-4D91-921C-7D5AEDED7A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476501"/>
            <a:ext cx="10515600" cy="37004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E808D9-76BD-4533-AF64-87EB65DA7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j-lt"/>
              </a:defRPr>
            </a:lvl1pPr>
          </a:lstStyle>
          <a:p>
            <a:fld id="{2DB472F0-34D4-4635-92C6-3A38628EF8C8}" type="datetimeFigureOut">
              <a:rPr lang="ru-RU" smtClean="0"/>
              <a:pPr/>
              <a:t>02.06.2026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7C71667-E85B-4588-8A68-9857B2E807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j-lt"/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2CBE73A-2805-4759-A150-56F0523354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j-lt"/>
              </a:defRPr>
            </a:lvl1pPr>
          </a:lstStyle>
          <a:p>
            <a:fld id="{F790FE3E-6460-4EC4-8C5D-83C27D7766BF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3A7278-5F93-4C66-B83F-288284DCB0D3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175766"/>
            <a:ext cx="2501716" cy="700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945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1A7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AFE79D92-88A3-4669-9E63-839B8296D48F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34" y="67758"/>
            <a:ext cx="2749647" cy="916549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F3E0E-1A2B-4C5A-89D9-F5BCF153B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6332"/>
            <a:ext cx="1051559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35348CB-3293-4D91-921C-7D5AEDED7A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476501"/>
            <a:ext cx="10515600" cy="37004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E808D9-76BD-4533-AF64-87EB65DA7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  <a:latin typeface="+mj-lt"/>
              </a:defRPr>
            </a:lvl1pPr>
          </a:lstStyle>
          <a:p>
            <a:fld id="{2DB472F0-34D4-4635-92C6-3A38628EF8C8}" type="datetimeFigureOut">
              <a:rPr lang="ru-RU" smtClean="0"/>
              <a:pPr/>
              <a:t>02.06.2026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7C71667-E85B-4588-8A68-9857B2E807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/>
                </a:solidFill>
                <a:latin typeface="Montserrat" pitchFamily="2" charset="-52"/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2CBE73A-2805-4759-A150-56F0523354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90FE3E-6460-4EC4-8C5D-83C27D7766BF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73474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EE105180-9459-4618-A9B5-823661CBC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33195"/>
            <a:ext cx="10515600" cy="1928812"/>
          </a:xfrm>
        </p:spPr>
        <p:txBody>
          <a:bodyPr>
            <a:normAutofit fontScale="90000"/>
          </a:bodyPr>
          <a:lstStyle/>
          <a:p>
            <a:r>
              <a:rPr lang="ru-RU" b="0" dirty="0"/>
              <a:t>Веб‑платформа мониторинга и классификации земных покровов по спутниковым данным</a:t>
            </a:r>
            <a:br>
              <a:rPr lang="ru-RU" b="0" dirty="0"/>
            </a:br>
            <a:br>
              <a:rPr lang="ru-RU" dirty="0"/>
            </a:br>
            <a:endParaRPr lang="ru-RU" dirty="0"/>
          </a:p>
        </p:txBody>
      </p:sp>
      <p:sp>
        <p:nvSpPr>
          <p:cNvPr id="15" name="Подзаголовок 14">
            <a:extLst>
              <a:ext uri="{FF2B5EF4-FFF2-40B4-BE49-F238E27FC236}">
                <a16:creationId xmlns:a16="http://schemas.microsoft.com/office/drawing/2014/main" id="{7C975E68-0A5B-4C40-8370-5A2ABEF71A0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Наумов Дмитрий Дмитриевич</a:t>
            </a:r>
          </a:p>
        </p:txBody>
      </p:sp>
    </p:spTree>
    <p:extLst>
      <p:ext uri="{BB962C8B-B14F-4D97-AF65-F5344CB8AC3E}">
        <p14:creationId xmlns:p14="http://schemas.microsoft.com/office/powerpoint/2010/main" val="12707348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643A486E-19D8-478B-82FB-76FB43E45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ru-RU" dirty="0"/>
            </a:br>
            <a:br>
              <a:rPr lang="ru-RU" dirty="0"/>
            </a:br>
            <a:br>
              <a:rPr lang="ru-RU" dirty="0"/>
            </a:br>
            <a:r>
              <a:rPr lang="ru-RU" dirty="0"/>
              <a:t>Актуальность проекта</a:t>
            </a:r>
            <a:br>
              <a:rPr lang="ru-RU" dirty="0"/>
            </a:br>
            <a:br>
              <a:rPr lang="ru-RU" dirty="0"/>
            </a:br>
            <a:br>
              <a:rPr lang="ru-RU" b="0" dirty="0"/>
            </a:br>
            <a:endParaRPr lang="ru-RU" dirty="0"/>
          </a:p>
        </p:txBody>
      </p:sp>
      <p:sp>
        <p:nvSpPr>
          <p:cNvPr id="2" name="Объект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Мониторинг земных покровов требует объединения оптических и SAR‑данных, а также удобного интерфейса для выбора AOI и запуска анализа.</a:t>
            </a:r>
          </a:p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Существующие решения часто либо ориентированы на специалистов ГИС, либо не дают полного цикла: выбор сцены → классификация → статистика → экспорт.</a:t>
            </a:r>
          </a:p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Проект закрывает прикладную потребность в веб‑инструменте для анализа изменений покрытия территории по спутниковым данным.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526595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dirty="0"/>
              <a:t>Цель и задачи</a:t>
            </a:r>
          </a:p>
        </p:txBody>
      </p:sp>
      <p:sp>
        <p:nvSpPr>
          <p:cNvPr id="7" name="Текст 6"/>
          <p:cNvSpPr>
            <a:spLocks noGrp="1"/>
          </p:cNvSpPr>
          <p:nvPr>
            <p:ph type="body" idx="1"/>
          </p:nvPr>
        </p:nvSpPr>
        <p:spPr/>
        <p:txBody>
          <a:bodyPr>
            <a:normAutofit fontScale="32500" lnSpcReduction="20000"/>
          </a:bodyPr>
          <a:lstStyle/>
          <a:p>
            <a:endParaRPr lang="ru-RU" dirty="0"/>
          </a:p>
          <a:p>
            <a:endParaRPr lang="ru-RU" dirty="0"/>
          </a:p>
          <a:p>
            <a:r>
              <a:rPr lang="ru-RU" sz="8000" dirty="0"/>
              <a:t>Цель</a:t>
            </a:r>
          </a:p>
          <a:p>
            <a:endParaRPr lang="ru-RU" dirty="0"/>
          </a:p>
        </p:txBody>
      </p:sp>
      <p:sp>
        <p:nvSpPr>
          <p:cNvPr id="5" name="Объект 4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dirty="0"/>
              <a:t>Разработать информационную систему для мониторинга и классификации земных покровов на основе спутниковых данных с поддержкой выбора области интереса, автоматизированной обработки и экспорта результатов.</a:t>
            </a:r>
          </a:p>
          <a:p>
            <a:endParaRPr lang="ru-RU" dirty="0"/>
          </a:p>
        </p:txBody>
      </p:sp>
      <p:sp>
        <p:nvSpPr>
          <p:cNvPr id="8" name="Текст 7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 fontScale="25000" lnSpcReduction="20000"/>
          </a:bodyPr>
          <a:lstStyle/>
          <a:p>
            <a:endParaRPr lang="ru-RU" sz="3200" dirty="0"/>
          </a:p>
          <a:p>
            <a:endParaRPr lang="ru-RU" sz="3200" dirty="0"/>
          </a:p>
          <a:p>
            <a:r>
              <a:rPr lang="ru-RU" sz="10400" dirty="0"/>
              <a:t>Задачи</a:t>
            </a:r>
          </a:p>
          <a:p>
            <a:endParaRPr lang="ru-RU" dirty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/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ru-RU" dirty="0"/>
              <a:t>Проанализировать предметную область и существующие аналоги.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Определить функциональные и нефункциональные требования.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Спроектировать архитектуру, БД и API системы.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Реализовать пользовательский интерфейс и сценарий анализа.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Оценить результаты, метрики качества и направления развития.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282335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Обзор и сравнение аналогов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1629485"/>
              </p:ext>
            </p:extLst>
          </p:nvPr>
        </p:nvGraphicFramePr>
        <p:xfrm>
          <a:off x="369988" y="1697627"/>
          <a:ext cx="11452024" cy="4927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3006">
                  <a:extLst>
                    <a:ext uri="{9D8B030D-6E8A-4147-A177-3AD203B41FA5}">
                      <a16:colId xmlns:a16="http://schemas.microsoft.com/office/drawing/2014/main" val="2860347986"/>
                    </a:ext>
                  </a:extLst>
                </a:gridCol>
                <a:gridCol w="2863006">
                  <a:extLst>
                    <a:ext uri="{9D8B030D-6E8A-4147-A177-3AD203B41FA5}">
                      <a16:colId xmlns:a16="http://schemas.microsoft.com/office/drawing/2014/main" val="2869656744"/>
                    </a:ext>
                  </a:extLst>
                </a:gridCol>
                <a:gridCol w="2863006">
                  <a:extLst>
                    <a:ext uri="{9D8B030D-6E8A-4147-A177-3AD203B41FA5}">
                      <a16:colId xmlns:a16="http://schemas.microsoft.com/office/drawing/2014/main" val="3905758762"/>
                    </a:ext>
                  </a:extLst>
                </a:gridCol>
                <a:gridCol w="2863006">
                  <a:extLst>
                    <a:ext uri="{9D8B030D-6E8A-4147-A177-3AD203B41FA5}">
                      <a16:colId xmlns:a16="http://schemas.microsoft.com/office/drawing/2014/main" val="1587737023"/>
                    </a:ext>
                  </a:extLst>
                </a:gridCol>
              </a:tblGrid>
              <a:tr h="526631"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 dirty="0">
                          <a:solidFill>
                            <a:srgbClr val="0B2F97"/>
                          </a:solidFill>
                          <a:effectLst/>
                        </a:rPr>
                        <a:t>Система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 dirty="0">
                          <a:solidFill>
                            <a:srgbClr val="0B2F97"/>
                          </a:solidFill>
                          <a:effectLst/>
                        </a:rPr>
                        <a:t>Сильные стороны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>
                          <a:solidFill>
                            <a:srgbClr val="0B2F97"/>
                          </a:solidFill>
                          <a:effectLst/>
                        </a:rPr>
                        <a:t>Ограничения</a:t>
                      </a:r>
                    </a:p>
                  </a:txBody>
                  <a:tcPr marL="104775" marR="104775" marT="85725" marB="85725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 dirty="0">
                          <a:solidFill>
                            <a:srgbClr val="0B2F97"/>
                          </a:solidFill>
                          <a:effectLst/>
                        </a:rPr>
                        <a:t>Вывод для проекта</a:t>
                      </a:r>
                    </a:p>
                  </a:txBody>
                  <a:tcPr marL="104775" marR="104775" marT="85725" marB="85725"/>
                </a:tc>
                <a:extLst>
                  <a:ext uri="{0D108BD9-81ED-4DB2-BD59-A6C34878D82A}">
                    <a16:rowId xmlns:a16="http://schemas.microsoft.com/office/drawing/2014/main" val="1694169423"/>
                  </a:ext>
                </a:extLst>
              </a:tr>
              <a:tr h="1269515">
                <a:tc>
                  <a:txBody>
                    <a:bodyPr/>
                    <a:lstStyle/>
                    <a:p>
                      <a:pPr algn="ctr" fontAlgn="t"/>
                      <a:r>
                        <a:rPr lang="en-US" sz="1400" b="1" dirty="0">
                          <a:effectLst/>
                        </a:rPr>
                        <a:t>Google Earth Engine</a:t>
                      </a:r>
                    </a:p>
                  </a:txBody>
                  <a:tcPr marL="104775" marR="104775" marT="85725" marB="85725" anchor="ctr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 b="1" dirty="0">
                          <a:effectLst/>
                        </a:rPr>
                        <a:t>Мощная обработка, большой каталог данных</a:t>
                      </a:r>
                    </a:p>
                  </a:txBody>
                  <a:tcPr marL="104775" marR="104775" marT="85725" marB="85725" anchor="ctr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 b="1" dirty="0">
                          <a:effectLst/>
                        </a:rPr>
                        <a:t>Требует навыков </a:t>
                      </a:r>
                      <a:r>
                        <a:rPr lang="ru-RU" sz="1400" b="1" dirty="0" err="1">
                          <a:effectLst/>
                        </a:rPr>
                        <a:t>скриптинга</a:t>
                      </a:r>
                      <a:r>
                        <a:rPr lang="ru-RU" sz="1400" b="1" dirty="0">
                          <a:effectLst/>
                        </a:rPr>
                        <a:t>, не ориентирован на готовый прикладной </a:t>
                      </a:r>
                      <a:r>
                        <a:rPr lang="ru-RU" sz="1400" b="1" dirty="0" err="1">
                          <a:effectLst/>
                        </a:rPr>
                        <a:t>workflow</a:t>
                      </a:r>
                      <a:endParaRPr lang="ru-RU" sz="1400" b="1" dirty="0">
                        <a:effectLst/>
                      </a:endParaRPr>
                    </a:p>
                  </a:txBody>
                  <a:tcPr marL="104775" marR="104775" marT="85725" marB="85725" anchor="ctr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 b="1" dirty="0">
                          <a:effectLst/>
                        </a:rPr>
                        <a:t>Подтверждает ценность автоматизации и визуального сценария</a:t>
                      </a:r>
                    </a:p>
                  </a:txBody>
                  <a:tcPr marL="104775" marR="104775" marT="85725" marB="85725" anchor="ctr"/>
                </a:tc>
                <a:extLst>
                  <a:ext uri="{0D108BD9-81ED-4DB2-BD59-A6C34878D82A}">
                    <a16:rowId xmlns:a16="http://schemas.microsoft.com/office/drawing/2014/main" val="772986670"/>
                  </a:ext>
                </a:extLst>
              </a:tr>
              <a:tr h="1269515">
                <a:tc>
                  <a:txBody>
                    <a:bodyPr/>
                    <a:lstStyle/>
                    <a:p>
                      <a:pPr algn="ctr" fontAlgn="t"/>
                      <a:r>
                        <a:rPr lang="en-US" sz="1400" b="1" dirty="0">
                          <a:effectLst/>
                        </a:rPr>
                        <a:t>Sentinel Hub</a:t>
                      </a:r>
                    </a:p>
                  </a:txBody>
                  <a:tcPr marL="104775" marR="104775" marT="85725" marB="85725" anchor="ctr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 b="1" dirty="0">
                          <a:effectLst/>
                        </a:rPr>
                        <a:t>Доступ к данным и API</a:t>
                      </a:r>
                    </a:p>
                  </a:txBody>
                  <a:tcPr marL="104775" marR="104775" marT="85725" marB="85725" anchor="ctr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 b="1" dirty="0">
                          <a:effectLst/>
                        </a:rPr>
                        <a:t>Фокус на доступе к сценам, а не на полном цикле пользовательского анализа</a:t>
                      </a:r>
                    </a:p>
                  </a:txBody>
                  <a:tcPr marL="104775" marR="104775" marT="85725" marB="85725" anchor="ctr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 b="1" dirty="0">
                          <a:effectLst/>
                        </a:rPr>
                        <a:t>Нужен собственный слой аналитики и отображения</a:t>
                      </a:r>
                    </a:p>
                  </a:txBody>
                  <a:tcPr marL="104775" marR="104775" marT="85725" marB="85725" anchor="ctr"/>
                </a:tc>
                <a:extLst>
                  <a:ext uri="{0D108BD9-81ED-4DB2-BD59-A6C34878D82A}">
                    <a16:rowId xmlns:a16="http://schemas.microsoft.com/office/drawing/2014/main" val="3880378546"/>
                  </a:ext>
                </a:extLst>
              </a:tr>
              <a:tr h="818132">
                <a:tc>
                  <a:txBody>
                    <a:bodyPr/>
                    <a:lstStyle/>
                    <a:p>
                      <a:pPr algn="ctr" fontAlgn="t"/>
                      <a:r>
                        <a:rPr lang="en-US" sz="1400" b="1">
                          <a:effectLst/>
                        </a:rPr>
                        <a:t>ESA WorldCover / Dynamic World</a:t>
                      </a:r>
                    </a:p>
                  </a:txBody>
                  <a:tcPr marL="104775" marR="104775" marT="85725" marB="85725" anchor="ctr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 b="1">
                          <a:effectLst/>
                        </a:rPr>
                        <a:t>Готовые глобальные продукты</a:t>
                      </a:r>
                    </a:p>
                  </a:txBody>
                  <a:tcPr marL="104775" marR="104775" marT="85725" marB="85725" anchor="ctr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 b="1">
                          <a:effectLst/>
                        </a:rPr>
                        <a:t>Нет пользовательской настройки под AOI и период анализа</a:t>
                      </a:r>
                    </a:p>
                  </a:txBody>
                  <a:tcPr marL="104775" marR="104775" marT="85725" marB="85725" anchor="ctr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 b="1" dirty="0">
                          <a:effectLst/>
                        </a:rPr>
                        <a:t>Полезны как </a:t>
                      </a:r>
                      <a:r>
                        <a:rPr lang="ru-RU" sz="1400" b="1" dirty="0" err="1">
                          <a:effectLst/>
                        </a:rPr>
                        <a:t>референс</a:t>
                      </a:r>
                      <a:r>
                        <a:rPr lang="ru-RU" sz="1400" b="1" dirty="0">
                          <a:effectLst/>
                        </a:rPr>
                        <a:t> и источник сравнения качества</a:t>
                      </a:r>
                    </a:p>
                  </a:txBody>
                  <a:tcPr marL="104775" marR="104775" marT="85725" marB="85725" anchor="ctr"/>
                </a:tc>
                <a:extLst>
                  <a:ext uri="{0D108BD9-81ED-4DB2-BD59-A6C34878D82A}">
                    <a16:rowId xmlns:a16="http://schemas.microsoft.com/office/drawing/2014/main" val="1500828287"/>
                  </a:ext>
                </a:extLst>
              </a:tr>
              <a:tr h="1043823">
                <a:tc>
                  <a:txBody>
                    <a:bodyPr/>
                    <a:lstStyle/>
                    <a:p>
                      <a:pPr algn="ctr" fontAlgn="t"/>
                      <a:r>
                        <a:rPr lang="en-US" sz="1400" b="1" dirty="0" err="1">
                          <a:effectLst/>
                        </a:rPr>
                        <a:t>MaRS</a:t>
                      </a:r>
                      <a:r>
                        <a:rPr lang="en-US" sz="1400" b="1" dirty="0">
                          <a:effectLst/>
                        </a:rPr>
                        <a:t> Platform</a:t>
                      </a:r>
                    </a:p>
                  </a:txBody>
                  <a:tcPr marL="104775" marR="104775" marT="85725" marB="85725" anchor="ctr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 b="1">
                          <a:effectLst/>
                        </a:rPr>
                        <a:t>Интеграция данных, AOI, классификация, статистика и экспорт</a:t>
                      </a:r>
                    </a:p>
                  </a:txBody>
                  <a:tcPr marL="104775" marR="104775" marT="85725" marB="85725" anchor="ctr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 b="1">
                          <a:effectLst/>
                        </a:rPr>
                        <a:t>Требует дальнейшего развития моделей и промышленной интеграции</a:t>
                      </a:r>
                    </a:p>
                  </a:txBody>
                  <a:tcPr marL="104775" marR="104775" marT="85725" marB="85725" anchor="ctr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1400" b="1" dirty="0">
                          <a:effectLst/>
                        </a:rPr>
                        <a:t>Оптимальна как прикладная ИС под задачи проекта</a:t>
                      </a:r>
                    </a:p>
                  </a:txBody>
                  <a:tcPr marL="104775" marR="104775" marT="85725" marB="85725" anchor="ctr"/>
                </a:tc>
                <a:extLst>
                  <a:ext uri="{0D108BD9-81ED-4DB2-BD59-A6C34878D82A}">
                    <a16:rowId xmlns:a16="http://schemas.microsoft.com/office/drawing/2014/main" val="17700641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31291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B1E0B3-8C4A-4BEF-BA49-D8498F960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Используемые технологии и инструменты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2457449"/>
            <a:ext cx="10515600" cy="1773729"/>
          </a:xfrm>
        </p:spPr>
        <p:txBody>
          <a:bodyPr/>
          <a:lstStyle/>
          <a:p>
            <a:pPr>
              <a:buFont typeface="Arial" panose="020B0604020202020204" pitchFamily="34" charset="0"/>
              <a:buChar char="−"/>
            </a:pPr>
            <a:r>
              <a:rPr lang="en-US" sz="2000" dirty="0"/>
              <a:t>Python, </a:t>
            </a:r>
            <a:r>
              <a:rPr lang="en-US" sz="2000" dirty="0" err="1"/>
              <a:t>TensorFlow</a:t>
            </a:r>
            <a:r>
              <a:rPr lang="en-US" sz="2000" dirty="0"/>
              <a:t> — </a:t>
            </a:r>
            <a:r>
              <a:rPr lang="ru-RU" sz="2000" dirty="0"/>
              <a:t>вычислительная и </a:t>
            </a:r>
            <a:r>
              <a:rPr lang="en-US" sz="2000" dirty="0"/>
              <a:t>ML‑</a:t>
            </a:r>
            <a:r>
              <a:rPr lang="ru-RU" sz="2000" dirty="0"/>
              <a:t>часть.</a:t>
            </a:r>
          </a:p>
          <a:p>
            <a:pPr>
              <a:buFont typeface="Arial" panose="020B0604020202020204" pitchFamily="34" charset="0"/>
              <a:buChar char="−"/>
            </a:pPr>
            <a:r>
              <a:rPr lang="en-US" sz="2000" dirty="0"/>
              <a:t>React / Leaflet / </a:t>
            </a:r>
            <a:r>
              <a:rPr lang="en-US" sz="2000" dirty="0" err="1"/>
              <a:t>OpenLayers</a:t>
            </a:r>
            <a:r>
              <a:rPr lang="en-US" sz="2000" dirty="0"/>
              <a:t> — </a:t>
            </a:r>
            <a:r>
              <a:rPr lang="ru-RU" sz="2000" dirty="0"/>
              <a:t>веб‑интерфейс и работа с картой.</a:t>
            </a:r>
          </a:p>
          <a:p>
            <a:pPr>
              <a:buFont typeface="Arial" panose="020B0604020202020204" pitchFamily="34" charset="0"/>
              <a:buChar char="−"/>
            </a:pPr>
            <a:r>
              <a:rPr lang="en-US" sz="2000" dirty="0"/>
              <a:t>PostgreSQL + </a:t>
            </a:r>
            <a:r>
              <a:rPr lang="en-US" sz="2000" dirty="0" err="1"/>
              <a:t>PostGIS</a:t>
            </a:r>
            <a:r>
              <a:rPr lang="en-US" sz="2000" dirty="0"/>
              <a:t> — </a:t>
            </a:r>
            <a:r>
              <a:rPr lang="ru-RU" sz="2000" dirty="0"/>
              <a:t>хранение пространственных и прикладных данных.</a:t>
            </a:r>
          </a:p>
          <a:p>
            <a:pPr>
              <a:buFont typeface="Arial" panose="020B0604020202020204" pitchFamily="34" charset="0"/>
              <a:buChar char="−"/>
            </a:pPr>
            <a:r>
              <a:rPr lang="en-US" sz="2000" dirty="0"/>
              <a:t>REST API — </a:t>
            </a:r>
            <a:r>
              <a:rPr lang="ru-RU" sz="2000" dirty="0"/>
              <a:t>обмен между клиентом, обработкой и слоем хранения.</a:t>
            </a:r>
          </a:p>
          <a:p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513811"/>
            <a:ext cx="1354974" cy="1354974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3174" y="4150555"/>
            <a:ext cx="2933428" cy="1876172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4610" y="4513811"/>
            <a:ext cx="1698712" cy="151291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2173" y="4890849"/>
            <a:ext cx="2856807" cy="758839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8736" y="4566978"/>
            <a:ext cx="1406582" cy="1406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32899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Компоненты системы</a:t>
            </a:r>
          </a:p>
        </p:txBody>
      </p:sp>
      <p:pic>
        <p:nvPicPr>
          <p:cNvPr id="7" name="Объект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83188" y="1035864"/>
            <a:ext cx="6172200" cy="4776746"/>
          </a:xfrm>
          <a:prstGeom prst="rect">
            <a:avLst/>
          </a:prstGeom>
        </p:spPr>
      </p:pic>
      <p:sp>
        <p:nvSpPr>
          <p:cNvPr id="6" name="Текст 5"/>
          <p:cNvSpPr>
            <a:spLocks noGrp="1"/>
          </p:cNvSpPr>
          <p:nvPr>
            <p:ph type="body" sz="half" idx="2"/>
          </p:nvPr>
        </p:nvSpPr>
        <p:spPr>
          <a:xfrm>
            <a:off x="831274" y="2476500"/>
            <a:ext cx="3940752" cy="3392488"/>
          </a:xfrm>
        </p:spPr>
        <p:txBody>
          <a:bodyPr>
            <a:noAutofit/>
          </a:bodyPr>
          <a:lstStyle/>
          <a:p>
            <a:r>
              <a:rPr lang="en-US" sz="1400" dirty="0"/>
              <a:t>Web Client </a:t>
            </a:r>
            <a:r>
              <a:rPr lang="ru-RU" sz="1400" dirty="0"/>
              <a:t>обращается к </a:t>
            </a:r>
            <a:r>
              <a:rPr lang="en-US" sz="1400" dirty="0"/>
              <a:t>API Gateway </a:t>
            </a:r>
            <a:r>
              <a:rPr lang="ru-RU" sz="1400" dirty="0"/>
              <a:t>по </a:t>
            </a:r>
            <a:r>
              <a:rPr lang="en-US" sz="1400" dirty="0"/>
              <a:t>HTTP(S).</a:t>
            </a:r>
          </a:p>
          <a:p>
            <a:r>
              <a:rPr lang="en-US" sz="1400" dirty="0"/>
              <a:t>API Gateway </a:t>
            </a:r>
            <a:r>
              <a:rPr lang="ru-RU" sz="1400" dirty="0"/>
              <a:t>вызывает:</a:t>
            </a:r>
          </a:p>
          <a:p>
            <a:pPr marL="285750" indent="-285750">
              <a:buFont typeface="Arial" panose="020B0604020202020204" pitchFamily="34" charset="0"/>
              <a:buChar char="−"/>
            </a:pPr>
            <a:r>
              <a:rPr lang="en-US" sz="1400" dirty="0" err="1"/>
              <a:t>Auth</a:t>
            </a:r>
            <a:r>
              <a:rPr lang="en-US" sz="1400" dirty="0"/>
              <a:t> Service </a:t>
            </a:r>
            <a:r>
              <a:rPr lang="ru-RU" sz="1400" dirty="0"/>
              <a:t>для проверки прав;</a:t>
            </a:r>
          </a:p>
          <a:p>
            <a:pPr marL="285750" indent="-285750">
              <a:buFont typeface="Arial" panose="020B0604020202020204" pitchFamily="34" charset="0"/>
              <a:buChar char="−"/>
            </a:pPr>
            <a:r>
              <a:rPr lang="en-US" sz="1400" dirty="0"/>
              <a:t>Analysis Service </a:t>
            </a:r>
            <a:r>
              <a:rPr lang="ru-RU" sz="1400" dirty="0"/>
              <a:t>для создания и управления запросами анализа.</a:t>
            </a:r>
          </a:p>
          <a:p>
            <a:r>
              <a:rPr lang="en-US" sz="1400" dirty="0"/>
              <a:t>Analysis Service </a:t>
            </a:r>
            <a:r>
              <a:rPr lang="ru-RU" sz="1400" dirty="0"/>
              <a:t>взаимодействует с:</a:t>
            </a:r>
          </a:p>
          <a:p>
            <a:pPr marL="342900" indent="-342900">
              <a:buFont typeface="Arial" panose="020B0604020202020204" pitchFamily="34" charset="0"/>
              <a:buChar char="−"/>
            </a:pPr>
            <a:r>
              <a:rPr lang="en-US" sz="1400" dirty="0"/>
              <a:t>Copernicus/USGS/GEE </a:t>
            </a:r>
            <a:r>
              <a:rPr lang="ru-RU" sz="1400" dirty="0"/>
              <a:t>для поиска и загрузки сцен;</a:t>
            </a:r>
          </a:p>
          <a:p>
            <a:pPr marL="342900" indent="-342900">
              <a:buFont typeface="Arial" panose="020B0604020202020204" pitchFamily="34" charset="0"/>
              <a:buChar char="−"/>
            </a:pPr>
            <a:r>
              <a:rPr lang="en-US" sz="1400" dirty="0"/>
              <a:t>PostgreSQL/</a:t>
            </a:r>
            <a:r>
              <a:rPr lang="en-US" sz="1400" dirty="0" err="1"/>
              <a:t>PostGIS</a:t>
            </a:r>
            <a:r>
              <a:rPr lang="en-US" sz="1400" dirty="0"/>
              <a:t> </a:t>
            </a:r>
            <a:r>
              <a:rPr lang="ru-RU" sz="1400" dirty="0"/>
              <a:t>для записи/чтения метаданных;</a:t>
            </a:r>
          </a:p>
          <a:p>
            <a:pPr marL="342900" indent="-342900">
              <a:buFont typeface="Arial" panose="020B0604020202020204" pitchFamily="34" charset="0"/>
              <a:buChar char="−"/>
            </a:pPr>
            <a:r>
              <a:rPr lang="en-US" sz="1400" dirty="0"/>
              <a:t>Raster Storage </a:t>
            </a:r>
            <a:r>
              <a:rPr lang="ru-RU" sz="1400" dirty="0"/>
              <a:t>для чтения/записи растровых данных.</a:t>
            </a:r>
          </a:p>
          <a:p>
            <a:r>
              <a:rPr lang="en-US" sz="1400" dirty="0" err="1"/>
              <a:t>Auth</a:t>
            </a:r>
            <a:r>
              <a:rPr lang="en-US" sz="1400" dirty="0"/>
              <a:t> Service </a:t>
            </a:r>
            <a:r>
              <a:rPr lang="ru-RU" sz="1400" dirty="0"/>
              <a:t>использует </a:t>
            </a:r>
            <a:r>
              <a:rPr lang="en-US" sz="1400" dirty="0"/>
              <a:t>PostgreSQL/</a:t>
            </a:r>
            <a:r>
              <a:rPr lang="en-US" sz="1400" dirty="0" err="1"/>
              <a:t>PostGIS</a:t>
            </a:r>
            <a:r>
              <a:rPr lang="en-US" sz="1400" dirty="0"/>
              <a:t> </a:t>
            </a:r>
            <a:r>
              <a:rPr lang="ru-RU" sz="1400" dirty="0"/>
              <a:t>как хранилище учётных записей.</a:t>
            </a:r>
          </a:p>
        </p:txBody>
      </p:sp>
    </p:spTree>
    <p:extLst>
      <p:ext uri="{BB962C8B-B14F-4D97-AF65-F5344CB8AC3E}">
        <p14:creationId xmlns:p14="http://schemas.microsoft.com/office/powerpoint/2010/main" val="32758000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Последовательность потока данных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5130" y="2008426"/>
            <a:ext cx="9321740" cy="4580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94655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7153B6-3FE8-4B08-A5FD-6A1522F17C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017" y="502852"/>
            <a:ext cx="10515600" cy="1325563"/>
          </a:xfrm>
        </p:spPr>
        <p:txBody>
          <a:bodyPr/>
          <a:lstStyle/>
          <a:p>
            <a:r>
              <a:rPr lang="ru-RU" dirty="0"/>
              <a:t>Проектирование и архитектура</a:t>
            </a:r>
          </a:p>
        </p:txBody>
      </p:sp>
      <p:sp>
        <p:nvSpPr>
          <p:cNvPr id="30" name="Текст 29"/>
          <p:cNvSpPr>
            <a:spLocks noGrp="1"/>
          </p:cNvSpPr>
          <p:nvPr>
            <p:ph type="body" idx="1"/>
          </p:nvPr>
        </p:nvSpPr>
        <p:spPr>
          <a:xfrm>
            <a:off x="927100" y="3962806"/>
            <a:ext cx="5157787" cy="823912"/>
          </a:xfrm>
        </p:spPr>
        <p:txBody>
          <a:bodyPr/>
          <a:lstStyle/>
          <a:p>
            <a:r>
              <a:rPr lang="ru-RU" dirty="0"/>
              <a:t>Логика данных</a:t>
            </a:r>
          </a:p>
        </p:txBody>
      </p:sp>
      <p:sp>
        <p:nvSpPr>
          <p:cNvPr id="31" name="Объект 30"/>
          <p:cNvSpPr>
            <a:spLocks noGrp="1"/>
          </p:cNvSpPr>
          <p:nvPr>
            <p:ph sz="half" idx="2"/>
          </p:nvPr>
        </p:nvSpPr>
        <p:spPr>
          <a:xfrm>
            <a:off x="962526" y="5037221"/>
            <a:ext cx="5130886" cy="1152442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ru-RU" dirty="0"/>
              <a:t>Центральная сущность — запрос анализа. С ним связаны пользователь, выбранный период, AOI, набор сцен, результат классификации и метрики качества.</a:t>
            </a:r>
          </a:p>
        </p:txBody>
      </p:sp>
      <p:sp>
        <p:nvSpPr>
          <p:cNvPr id="32" name="Текст 31"/>
          <p:cNvSpPr>
            <a:spLocks noGrp="1"/>
          </p:cNvSpPr>
          <p:nvPr>
            <p:ph type="body" sz="quarter" idx="3"/>
          </p:nvPr>
        </p:nvSpPr>
        <p:spPr>
          <a:xfrm>
            <a:off x="6411084" y="3975727"/>
            <a:ext cx="5183188" cy="823912"/>
          </a:xfrm>
        </p:spPr>
        <p:txBody>
          <a:bodyPr numCol="3"/>
          <a:lstStyle/>
          <a:p>
            <a:r>
              <a:rPr lang="ru-RU" dirty="0"/>
              <a:t>Архитектурный принцип</a:t>
            </a:r>
          </a:p>
          <a:p>
            <a:endParaRPr lang="ru-RU" dirty="0"/>
          </a:p>
        </p:txBody>
      </p:sp>
      <p:sp>
        <p:nvSpPr>
          <p:cNvPr id="33" name="Объект 32"/>
          <p:cNvSpPr>
            <a:spLocks noGrp="1"/>
          </p:cNvSpPr>
          <p:nvPr>
            <p:ph sz="quarter" idx="4"/>
          </p:nvPr>
        </p:nvSpPr>
        <p:spPr>
          <a:xfrm>
            <a:off x="6411084" y="5037221"/>
            <a:ext cx="5183188" cy="1152441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ru-RU" dirty="0"/>
              <a:t>Модульность: интерфейс, API, аналитический модуль и база данных разделены, что упрощает масштабирование и сопровождение системы.</a:t>
            </a:r>
          </a:p>
        </p:txBody>
      </p:sp>
      <p:sp>
        <p:nvSpPr>
          <p:cNvPr id="17" name="Text 1"/>
          <p:cNvSpPr/>
          <p:nvPr/>
        </p:nvSpPr>
        <p:spPr>
          <a:xfrm>
            <a:off x="511783" y="1814059"/>
            <a:ext cx="2574204" cy="1899584"/>
          </a:xfrm>
          <a:prstGeom prst="roundRect">
            <a:avLst>
              <a:gd name="adj" fmla="val 129949"/>
            </a:avLst>
          </a:prstGeom>
          <a:solidFill>
            <a:srgbClr val="FFFFFF"/>
          </a:solidFill>
          <a:ln w="9525">
            <a:solidFill>
              <a:srgbClr val="D8DCE6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8"/>
          <p:cNvSpPr/>
          <p:nvPr/>
        </p:nvSpPr>
        <p:spPr>
          <a:xfrm>
            <a:off x="781070" y="2210262"/>
            <a:ext cx="2035629" cy="11071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32"/>
              </a:lnSpc>
              <a:buNone/>
            </a:pPr>
            <a:r>
              <a:rPr lang="en-US" sz="1275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UI, карта, формы выбора AOI, запуск анализа, просмотр результатов.</a:t>
            </a:r>
            <a:endParaRPr lang="en-US" sz="1275" dirty="0"/>
          </a:p>
        </p:txBody>
      </p:sp>
      <p:sp>
        <p:nvSpPr>
          <p:cNvPr id="25" name="Text 1"/>
          <p:cNvSpPr/>
          <p:nvPr/>
        </p:nvSpPr>
        <p:spPr>
          <a:xfrm>
            <a:off x="3352695" y="1810215"/>
            <a:ext cx="2471200" cy="1899584"/>
          </a:xfrm>
          <a:prstGeom prst="roundRect">
            <a:avLst>
              <a:gd name="adj" fmla="val 129949"/>
            </a:avLst>
          </a:prstGeom>
          <a:solidFill>
            <a:srgbClr val="FFFFFF"/>
          </a:solidFill>
          <a:ln w="9525">
            <a:solidFill>
              <a:srgbClr val="D8DCE6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9"/>
          <p:cNvSpPr/>
          <p:nvPr/>
        </p:nvSpPr>
        <p:spPr>
          <a:xfrm>
            <a:off x="3444488" y="2210262"/>
            <a:ext cx="2189383" cy="10249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32"/>
              </a:lnSpc>
              <a:buNone/>
            </a:pPr>
            <a:r>
              <a:rPr lang="en-US" sz="1275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REST‑эндпоинты для запросов классификации, получения сцен, статистики и файлов.</a:t>
            </a:r>
            <a:endParaRPr lang="en-US" sz="1275" dirty="0"/>
          </a:p>
        </p:txBody>
      </p:sp>
      <p:sp>
        <p:nvSpPr>
          <p:cNvPr id="28" name="Text 1"/>
          <p:cNvSpPr/>
          <p:nvPr/>
        </p:nvSpPr>
        <p:spPr>
          <a:xfrm>
            <a:off x="6093412" y="1761510"/>
            <a:ext cx="2574204" cy="1899584"/>
          </a:xfrm>
          <a:prstGeom prst="roundRect">
            <a:avLst>
              <a:gd name="adj" fmla="val 129949"/>
            </a:avLst>
          </a:prstGeom>
          <a:solidFill>
            <a:srgbClr val="FFFFFF"/>
          </a:solidFill>
          <a:ln w="9525">
            <a:solidFill>
              <a:srgbClr val="D8DCE6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10"/>
          <p:cNvSpPr/>
          <p:nvPr/>
        </p:nvSpPr>
        <p:spPr>
          <a:xfrm>
            <a:off x="6411085" y="2191166"/>
            <a:ext cx="1938857" cy="11071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32"/>
              </a:lnSpc>
              <a:buNone/>
            </a:pPr>
            <a:r>
              <a:rPr lang="en-US" sz="1275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Подбор сцен, запуск моделей MaRS / RNN / LSTM, формирование GeoTIFF и статистики.</a:t>
            </a:r>
            <a:endParaRPr lang="en-US" sz="1275" dirty="0"/>
          </a:p>
        </p:txBody>
      </p:sp>
      <p:sp>
        <p:nvSpPr>
          <p:cNvPr id="29" name="Text 1"/>
          <p:cNvSpPr/>
          <p:nvPr/>
        </p:nvSpPr>
        <p:spPr>
          <a:xfrm>
            <a:off x="8931176" y="1772968"/>
            <a:ext cx="2574204" cy="1899584"/>
          </a:xfrm>
          <a:prstGeom prst="roundRect">
            <a:avLst>
              <a:gd name="adj" fmla="val 129949"/>
            </a:avLst>
          </a:prstGeom>
          <a:solidFill>
            <a:srgbClr val="FFFFFF"/>
          </a:solidFill>
          <a:ln w="9525">
            <a:solidFill>
              <a:srgbClr val="D8DCE6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11"/>
          <p:cNvSpPr/>
          <p:nvPr/>
        </p:nvSpPr>
        <p:spPr>
          <a:xfrm>
            <a:off x="9178981" y="2210262"/>
            <a:ext cx="2078593" cy="10249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32"/>
              </a:lnSpc>
              <a:buNone/>
            </a:pPr>
            <a:r>
              <a:rPr lang="en-US" sz="1275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PostgreSQL/PostGIS: пользователи, запросы, сцены, результаты, метрики, классы покрытия.</a:t>
            </a:r>
            <a:endParaRPr lang="en-US" sz="1275" dirty="0"/>
          </a:p>
        </p:txBody>
      </p:sp>
    </p:spTree>
    <p:extLst>
      <p:ext uri="{BB962C8B-B14F-4D97-AF65-F5344CB8AC3E}">
        <p14:creationId xmlns:p14="http://schemas.microsoft.com/office/powerpoint/2010/main" val="3700633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 базы данных</a:t>
            </a:r>
          </a:p>
        </p:txBody>
      </p:sp>
      <p:sp>
        <p:nvSpPr>
          <p:cNvPr id="9" name="Текст 8"/>
          <p:cNvSpPr>
            <a:spLocks noGrp="1"/>
          </p:cNvSpPr>
          <p:nvPr>
            <p:ph type="body" sz="half" idx="2"/>
          </p:nvPr>
        </p:nvSpPr>
        <p:spPr>
          <a:xfrm>
            <a:off x="962025" y="2552699"/>
            <a:ext cx="4557626" cy="4114107"/>
          </a:xfrm>
        </p:spPr>
        <p:txBody>
          <a:bodyPr>
            <a:normAutofit fontScale="85000" lnSpcReduction="10000"/>
          </a:bodyPr>
          <a:lstStyle/>
          <a:p>
            <a:r>
              <a:rPr lang="ru-RU" dirty="0">
                <a:solidFill>
                  <a:srgbClr val="1F1F1F"/>
                </a:solidFill>
                <a:latin typeface="+mj-lt"/>
              </a:rPr>
              <a:t>В проекте реализованы следующие </a:t>
            </a:r>
            <a:r>
              <a:rPr lang="ru-RU" dirty="0" err="1">
                <a:solidFill>
                  <a:srgbClr val="1F1F1F"/>
                </a:solidFill>
                <a:latin typeface="+mj-lt"/>
              </a:rPr>
              <a:t>сущьности</a:t>
            </a:r>
            <a:r>
              <a:rPr lang="ru-RU" dirty="0">
                <a:solidFill>
                  <a:srgbClr val="1F1F1F"/>
                </a:solidFill>
                <a:latin typeface="+mj-lt"/>
              </a:rPr>
              <a:t>:</a:t>
            </a:r>
          </a:p>
          <a:p>
            <a:pPr marL="285750" indent="-285750">
              <a:buFontTx/>
              <a:buChar char="−"/>
            </a:pPr>
            <a:r>
              <a:rPr lang="ru-RU" b="1" dirty="0" err="1">
                <a:solidFill>
                  <a:srgbClr val="1F1F1F"/>
                </a:solidFill>
                <a:latin typeface="+mj-lt"/>
              </a:rPr>
              <a:t>roles</a:t>
            </a:r>
            <a:r>
              <a:rPr lang="ru-RU" dirty="0">
                <a:solidFill>
                  <a:srgbClr val="1F1F1F"/>
                </a:solidFill>
                <a:latin typeface="+mj-lt"/>
              </a:rPr>
              <a:t> – роли пользователей;</a:t>
            </a:r>
          </a:p>
          <a:p>
            <a:pPr marL="285750" indent="-285750">
              <a:buFontTx/>
              <a:buChar char="−"/>
            </a:pPr>
            <a:r>
              <a:rPr lang="ru-RU" b="1" dirty="0" err="1">
                <a:solidFill>
                  <a:srgbClr val="1F1F1F"/>
                </a:solidFill>
                <a:latin typeface="+mj-lt"/>
              </a:rPr>
              <a:t>users</a:t>
            </a:r>
            <a:r>
              <a:rPr lang="ru-RU" dirty="0">
                <a:solidFill>
                  <a:srgbClr val="1F1F1F"/>
                </a:solidFill>
                <a:latin typeface="+mj-lt"/>
              </a:rPr>
              <a:t> – пользователи системы;</a:t>
            </a:r>
          </a:p>
          <a:p>
            <a:pPr marL="285750" indent="-285750">
              <a:buFontTx/>
              <a:buChar char="−"/>
            </a:pPr>
            <a:r>
              <a:rPr lang="ru-RU" b="1" dirty="0" err="1">
                <a:solidFill>
                  <a:srgbClr val="1F1F1F"/>
                </a:solidFill>
                <a:latin typeface="+mj-lt"/>
              </a:rPr>
              <a:t>analysis_requests</a:t>
            </a:r>
            <a:r>
              <a:rPr lang="ru-RU" dirty="0">
                <a:solidFill>
                  <a:srgbClr val="1F1F1F"/>
                </a:solidFill>
                <a:latin typeface="+mj-lt"/>
              </a:rPr>
              <a:t> – запросы на анализ;</a:t>
            </a:r>
          </a:p>
          <a:p>
            <a:pPr marL="285750" indent="-285750">
              <a:buFontTx/>
              <a:buChar char="−"/>
            </a:pPr>
            <a:r>
              <a:rPr lang="ru-RU" b="1" dirty="0" err="1">
                <a:solidFill>
                  <a:srgbClr val="1F1F1F"/>
                </a:solidFill>
                <a:latin typeface="+mj-lt"/>
              </a:rPr>
              <a:t>data_sources</a:t>
            </a:r>
            <a:r>
              <a:rPr lang="ru-RU" dirty="0">
                <a:solidFill>
                  <a:srgbClr val="1F1F1F"/>
                </a:solidFill>
                <a:latin typeface="+mj-lt"/>
              </a:rPr>
              <a:t> – источники спутниковых данных;</a:t>
            </a:r>
          </a:p>
          <a:p>
            <a:pPr marL="285750" indent="-285750">
              <a:buFontTx/>
              <a:buChar char="−"/>
            </a:pPr>
            <a:r>
              <a:rPr lang="ru-RU" b="1" dirty="0" err="1">
                <a:solidFill>
                  <a:srgbClr val="1F1F1F"/>
                </a:solidFill>
                <a:latin typeface="+mj-lt"/>
              </a:rPr>
              <a:t>satellite_scenes</a:t>
            </a:r>
            <a:r>
              <a:rPr lang="ru-RU" dirty="0">
                <a:solidFill>
                  <a:srgbClr val="1F1F1F"/>
                </a:solidFill>
                <a:latin typeface="+mj-lt"/>
              </a:rPr>
              <a:t> – загруженные спутниковые сцены;</a:t>
            </a:r>
          </a:p>
          <a:p>
            <a:pPr marL="285750" indent="-285750">
              <a:buFontTx/>
              <a:buChar char="−"/>
            </a:pPr>
            <a:r>
              <a:rPr lang="ru-RU" b="1" dirty="0" err="1">
                <a:solidFill>
                  <a:srgbClr val="1F1F1F"/>
                </a:solidFill>
                <a:latin typeface="+mj-lt"/>
              </a:rPr>
              <a:t>request_scenes</a:t>
            </a:r>
            <a:r>
              <a:rPr lang="ru-RU" dirty="0">
                <a:solidFill>
                  <a:srgbClr val="1F1F1F"/>
                </a:solidFill>
                <a:latin typeface="+mj-lt"/>
              </a:rPr>
              <a:t> – связь между запросом анализа и сценами;</a:t>
            </a:r>
          </a:p>
          <a:p>
            <a:pPr marL="285750" indent="-285750">
              <a:buFontTx/>
              <a:buChar char="−"/>
            </a:pPr>
            <a:r>
              <a:rPr lang="ru-RU" b="1" dirty="0" err="1">
                <a:solidFill>
                  <a:srgbClr val="1F1F1F"/>
                </a:solidFill>
                <a:latin typeface="+mj-lt"/>
              </a:rPr>
              <a:t>classification_results</a:t>
            </a:r>
            <a:r>
              <a:rPr lang="ru-RU" dirty="0">
                <a:solidFill>
                  <a:srgbClr val="1F1F1F"/>
                </a:solidFill>
                <a:latin typeface="+mj-lt"/>
              </a:rPr>
              <a:t> – результаты классификации;</a:t>
            </a:r>
          </a:p>
          <a:p>
            <a:pPr marL="285750" indent="-285750">
              <a:buFontTx/>
              <a:buChar char="−"/>
            </a:pPr>
            <a:r>
              <a:rPr lang="ru-RU" b="1" dirty="0" err="1">
                <a:solidFill>
                  <a:srgbClr val="1F1F1F"/>
                </a:solidFill>
                <a:latin typeface="+mj-lt"/>
              </a:rPr>
              <a:t>quality_metrics</a:t>
            </a:r>
            <a:r>
              <a:rPr lang="ru-RU" dirty="0">
                <a:solidFill>
                  <a:srgbClr val="1F1F1F"/>
                </a:solidFill>
                <a:latin typeface="+mj-lt"/>
              </a:rPr>
              <a:t> – метрики качества результата;</a:t>
            </a:r>
          </a:p>
          <a:p>
            <a:pPr marL="285750" indent="-285750">
              <a:buFontTx/>
              <a:buChar char="−"/>
            </a:pPr>
            <a:r>
              <a:rPr lang="ru-RU" b="1" dirty="0" err="1">
                <a:solidFill>
                  <a:srgbClr val="1F1F1F"/>
                </a:solidFill>
                <a:latin typeface="+mj-lt"/>
              </a:rPr>
              <a:t>land_cover_classes</a:t>
            </a:r>
            <a:r>
              <a:rPr lang="ru-RU" dirty="0">
                <a:solidFill>
                  <a:srgbClr val="1F1F1F"/>
                </a:solidFill>
                <a:latin typeface="+mj-lt"/>
              </a:rPr>
              <a:t> – справочник классов земных покровов;</a:t>
            </a:r>
          </a:p>
          <a:p>
            <a:pPr marL="285750" indent="-285750">
              <a:buFontTx/>
              <a:buChar char="−"/>
            </a:pPr>
            <a:r>
              <a:rPr lang="ru-RU" b="1" dirty="0" err="1">
                <a:solidFill>
                  <a:srgbClr val="1F1F1F"/>
                </a:solidFill>
                <a:latin typeface="+mj-lt"/>
              </a:rPr>
              <a:t>result_class_stats</a:t>
            </a:r>
            <a:r>
              <a:rPr lang="ru-RU" dirty="0">
                <a:solidFill>
                  <a:srgbClr val="1F1F1F"/>
                </a:solidFill>
                <a:latin typeface="+mj-lt"/>
              </a:rPr>
              <a:t> – статистика по классам для конкретного результата.</a:t>
            </a:r>
          </a:p>
          <a:p>
            <a:endParaRPr lang="ru-RU" dirty="0"/>
          </a:p>
        </p:txBody>
      </p:sp>
      <p:pic>
        <p:nvPicPr>
          <p:cNvPr id="13" name="Рисунок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9546" y="0"/>
            <a:ext cx="4959755" cy="6844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78158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 </a:t>
            </a:r>
            <a:r>
              <a:rPr lang="ru-RU" dirty="0" err="1"/>
              <a:t>нейросетевой</a:t>
            </a:r>
            <a:r>
              <a:rPr lang="ru-RU" dirty="0"/>
              <a:t> модели</a:t>
            </a: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9260" y="1626405"/>
            <a:ext cx="8793480" cy="4948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43952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Сценарии использования</a:t>
            </a: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875" y="2044105"/>
            <a:ext cx="10070250" cy="4396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6234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988177" y="972588"/>
            <a:ext cx="10890712" cy="539635"/>
          </a:xfrm>
        </p:spPr>
        <p:txBody>
          <a:bodyPr/>
          <a:lstStyle/>
          <a:p>
            <a:r>
              <a:rPr lang="ru-RU" dirty="0"/>
              <a:t>Демонстрация работы и интерфейса</a:t>
            </a:r>
          </a:p>
        </p:txBody>
      </p:sp>
      <p:pic>
        <p:nvPicPr>
          <p:cNvPr id="8" name="0512">
            <a:hlinkClick r:id="" action="ppaction://media"/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991101" y="1770639"/>
            <a:ext cx="8233554" cy="4631373"/>
          </a:xfrm>
        </p:spPr>
      </p:pic>
    </p:spTree>
    <p:extLst>
      <p:ext uri="{BB962C8B-B14F-4D97-AF65-F5344CB8AC3E}">
        <p14:creationId xmlns:p14="http://schemas.microsoft.com/office/powerpoint/2010/main" val="1924369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 и анализ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ru-RU" b="1" dirty="0"/>
              <a:t>Достигнутые результаты:</a:t>
            </a:r>
          </a:p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Сформированы требования SRS и логика пользовательских сценариев.</a:t>
            </a:r>
          </a:p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Спроектированы архитектура, API и реляционная база данных.</a:t>
            </a:r>
          </a:p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Разработан интерактивный прототип интерфейса платформы.</a:t>
            </a:r>
          </a:p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Определены метрики оценки: </a:t>
            </a:r>
            <a:r>
              <a:rPr lang="ru-RU" dirty="0" err="1"/>
              <a:t>Accuracy</a:t>
            </a:r>
            <a:r>
              <a:rPr lang="ru-RU" dirty="0"/>
              <a:t>, </a:t>
            </a:r>
            <a:r>
              <a:rPr lang="ru-RU" dirty="0" err="1"/>
              <a:t>Kappa</a:t>
            </a:r>
            <a:r>
              <a:rPr lang="ru-RU" dirty="0"/>
              <a:t>, </a:t>
            </a:r>
            <a:r>
              <a:rPr lang="ru-RU" dirty="0" err="1"/>
              <a:t>Mean</a:t>
            </a:r>
            <a:r>
              <a:rPr lang="ru-RU" dirty="0"/>
              <a:t> </a:t>
            </a:r>
            <a:r>
              <a:rPr lang="ru-RU" dirty="0" err="1"/>
              <a:t>IoU</a:t>
            </a:r>
            <a:r>
              <a:rPr lang="ru-RU" dirty="0"/>
              <a:t>.</a:t>
            </a:r>
          </a:p>
          <a:p>
            <a:endParaRPr lang="ru-RU" dirty="0"/>
          </a:p>
        </p:txBody>
      </p:sp>
      <p:pic>
        <p:nvPicPr>
          <p:cNvPr id="8" name="Объект 7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305049"/>
            <a:ext cx="5181600" cy="3826041"/>
          </a:xfrm>
        </p:spPr>
      </p:pic>
    </p:spTree>
    <p:extLst>
      <p:ext uri="{BB962C8B-B14F-4D97-AF65-F5344CB8AC3E}">
        <p14:creationId xmlns:p14="http://schemas.microsoft.com/office/powerpoint/2010/main" val="25085434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Перспективы развития и улучшения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Интеграция дополнительных моделей и источников данных.</a:t>
            </a:r>
          </a:p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Автоматизация серии анализов и сценариев мониторинга изменений.</a:t>
            </a:r>
          </a:p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Расширение ролей пользователей и административных функций.</a:t>
            </a:r>
          </a:p>
          <a:p>
            <a:endParaRPr lang="ru-RU" dirty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b="1" dirty="0"/>
              <a:t>Следующий этап</a:t>
            </a:r>
          </a:p>
          <a:p>
            <a:pPr marL="0" indent="0">
              <a:buNone/>
            </a:pPr>
            <a:r>
              <a:rPr lang="ru-RU" dirty="0"/>
              <a:t>Переход от прототипа к MVP: </a:t>
            </a:r>
            <a:endParaRPr lang="en-US" dirty="0"/>
          </a:p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Промышленный </a:t>
            </a:r>
            <a:r>
              <a:rPr lang="ru-RU" dirty="0" err="1"/>
              <a:t>backend</a:t>
            </a:r>
            <a:r>
              <a:rPr lang="ru-RU" dirty="0"/>
              <a:t>; </a:t>
            </a:r>
            <a:endParaRPr lang="en-US" dirty="0"/>
          </a:p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Полноценная загрузка сцен; </a:t>
            </a:r>
            <a:endParaRPr lang="en-US" dirty="0"/>
          </a:p>
          <a:p>
            <a:pPr>
              <a:buFont typeface="Arial" panose="020B0604020202020204" pitchFamily="34" charset="0"/>
              <a:buChar char="−"/>
            </a:pPr>
            <a:r>
              <a:rPr lang="ru-RU" dirty="0"/>
              <a:t>Расширенное сравнение с эталонными продуктами и модуль отчётности.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845275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/>
              <a:t>В ходе работы спроектирована информационная система для мониторинга и классификации земных покровов, объединяющая выбор AOI, работу со спутниковыми сценами, аналитический модуль, хранение результатов и экспорт данных.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/>
              <a:t>Проект демонстрирует применение принципов управления проектами ИС: от анализа предметной области и требований до архитектурного проектирования, </a:t>
            </a:r>
            <a:r>
              <a:rPr lang="ru-RU" dirty="0" err="1"/>
              <a:t>прототипирования</a:t>
            </a:r>
            <a:r>
              <a:rPr lang="ru-RU" dirty="0"/>
              <a:t> и оценки результата.</a:t>
            </a:r>
          </a:p>
        </p:txBody>
      </p:sp>
    </p:spTree>
    <p:extLst>
      <p:ext uri="{BB962C8B-B14F-4D97-AF65-F5344CB8AC3E}">
        <p14:creationId xmlns:p14="http://schemas.microsoft.com/office/powerpoint/2010/main" val="21758818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F5885B3-B3DE-4564-BDC7-0F959A3F9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2405806438"/>
      </p:ext>
    </p:extLst>
  </p:cSld>
  <p:clrMapOvr>
    <a:masterClrMapping/>
  </p:clrMapOvr>
</p:sld>
</file>

<file path=ppt/theme/theme1.xml><?xml version="1.0" encoding="utf-8"?>
<a:theme xmlns:a="http://schemas.openxmlformats.org/drawingml/2006/main" name="Горы днём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(у меня нет Montserrat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Шаблон МИИГАиК 170425 Правильный.ppt [Режим совместимости]" id="{A415490B-F827-443F-A936-2E3308693CAF}" vid="{2737C4F3-30A7-462B-BAAF-6A4475D30B5A}"/>
    </a:ext>
  </a:extLst>
</a:theme>
</file>

<file path=ppt/theme/theme2.xml><?xml version="1.0" encoding="utf-8"?>
<a:theme xmlns:a="http://schemas.openxmlformats.org/drawingml/2006/main" name="Горы резко обрываются равниной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(у меня нет Montserrat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Шаблон МИИГАиК 170425 Правильный.ppt [Режим совместимости]" id="{A415490B-F827-443F-A936-2E3308693CAF}" vid="{2737C4F3-30A7-462B-BAAF-6A4475D30B5A}"/>
    </a:ext>
  </a:extLst>
</a:theme>
</file>

<file path=ppt/theme/theme3.xml><?xml version="1.0" encoding="utf-8"?>
<a:theme xmlns:a="http://schemas.openxmlformats.org/drawingml/2006/main" name="Лазерная гравировка по стали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(у меня нет Montserrat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Шаблон МИИГАиК 170425 Правильный.ppt [Режим совместимости]" id="{A415490B-F827-443F-A936-2E3308693CAF}" vid="{EB60DE6F-028E-4872-82DB-DADC663CBDD8}"/>
    </a:ext>
  </a:extLst>
</a:theme>
</file>

<file path=ppt/theme/theme4.xml><?xml version="1.0" encoding="utf-8"?>
<a:theme xmlns:a="http://schemas.openxmlformats.org/drawingml/2006/main" name="Горы плавно переходят в равнину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(у меня нет Montserrat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Шаблон МИИГАиК 170425 Правильный.ppt [Режим совместимости]" id="{A415490B-F827-443F-A936-2E3308693CAF}" vid="{844F752C-EEAC-4CC9-94F9-406FC0799D5E}"/>
    </a:ext>
  </a:extLst>
</a:theme>
</file>

<file path=ppt/theme/theme5.xml><?xml version="1.0" encoding="utf-8"?>
<a:theme xmlns:a="http://schemas.openxmlformats.org/drawingml/2006/main" name="Формула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(у меня нет Montserrat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Шаблон МИИГАиК 170425 Правильный.ppt [Режим совместимости]" id="{A415490B-F827-443F-A936-2E3308693CAF}" vid="{844F752C-EEAC-4CC9-94F9-406FC0799D5E}"/>
    </a:ext>
  </a:extLst>
</a:theme>
</file>

<file path=ppt/theme/theme6.xml><?xml version="1.0" encoding="utf-8"?>
<a:theme xmlns:a="http://schemas.openxmlformats.org/drawingml/2006/main" name="Горы ночью">
  <a:themeElements>
    <a:clrScheme name="Ночной МИИГАиК">
      <a:dk1>
        <a:srgbClr val="FFFFFF"/>
      </a:dk1>
      <a:lt1>
        <a:sysClr val="window" lastClr="FFFFFF"/>
      </a:lt1>
      <a:dk2>
        <a:srgbClr val="FFFFFF"/>
      </a:dk2>
      <a:lt2>
        <a:srgbClr val="FFFFFF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(у меня нет Montserrat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Шаблон МИИГАиК 170425 Правильный.ppt [Режим совместимости]" id="{A415490B-F827-443F-A936-2E3308693CAF}" vid="{C38CD02F-1156-4645-B207-AB6B5FD4AB3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269</TotalTime>
  <Words>760</Words>
  <Application>Microsoft Macintosh PowerPoint</Application>
  <PresentationFormat>Широкоэкранный</PresentationFormat>
  <Paragraphs>99</Paragraphs>
  <Slides>16</Slides>
  <Notes>0</Notes>
  <HiddenSlides>0</HiddenSlides>
  <MMClips>1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6</vt:i4>
      </vt:variant>
      <vt:variant>
        <vt:lpstr>Заголовки слайдов</vt:lpstr>
      </vt:variant>
      <vt:variant>
        <vt:i4>16</vt:i4>
      </vt:variant>
    </vt:vector>
  </HeadingPairs>
  <TitlesOfParts>
    <vt:vector size="24" baseType="lpstr">
      <vt:lpstr>Montserrat</vt:lpstr>
      <vt:lpstr>Arial</vt:lpstr>
      <vt:lpstr>Горы днём</vt:lpstr>
      <vt:lpstr>Горы резко обрываются равниной</vt:lpstr>
      <vt:lpstr>Лазерная гравировка по стали</vt:lpstr>
      <vt:lpstr>Горы плавно переходят в равнину</vt:lpstr>
      <vt:lpstr>Формула</vt:lpstr>
      <vt:lpstr>Горы ночью</vt:lpstr>
      <vt:lpstr>Веб‑платформа мониторинга и классификации земных покровов по спутниковым данным  </vt:lpstr>
      <vt:lpstr>   Актуальность проекта   </vt:lpstr>
      <vt:lpstr>Цель и задачи</vt:lpstr>
      <vt:lpstr>Обзор и сравнение аналогов</vt:lpstr>
      <vt:lpstr>Используемые технологии и инструменты</vt:lpstr>
      <vt:lpstr>Компоненты системы</vt:lpstr>
      <vt:lpstr>Последовательность потока данных</vt:lpstr>
      <vt:lpstr>Проектирование и архитектура</vt:lpstr>
      <vt:lpstr>Архитектура базы данных</vt:lpstr>
      <vt:lpstr>Архитектура нейросетевой модели</vt:lpstr>
      <vt:lpstr>Сценарии использования</vt:lpstr>
      <vt:lpstr>Демонстрация работы и интерфейса</vt:lpstr>
      <vt:lpstr>Результаты и анализ</vt:lpstr>
      <vt:lpstr>Перспективы развития и улучшения</vt:lpstr>
      <vt:lpstr>Заключение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Роман Жуков</dc:creator>
  <cp:lastModifiedBy>Din Razar</cp:lastModifiedBy>
  <cp:revision>30</cp:revision>
  <dcterms:created xsi:type="dcterms:W3CDTF">2025-04-17T10:00:13Z</dcterms:created>
  <dcterms:modified xsi:type="dcterms:W3CDTF">2026-06-02T15:18:12Z</dcterms:modified>
</cp:coreProperties>
</file>