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  <p:sldMasterId id="2147483703" r:id="rId2"/>
    <p:sldMasterId id="2147483683" r:id="rId3"/>
    <p:sldMasterId id="2147483693" r:id="rId4"/>
    <p:sldMasterId id="2147483713" r:id="rId5"/>
    <p:sldMasterId id="2147483661" r:id="rId6"/>
  </p:sldMasterIdLst>
  <p:sldIdLst>
    <p:sldId id="261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60" r:id="rId17"/>
  </p:sldIdLst>
  <p:sldSz cx="12192000" cy="6858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6597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1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43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20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56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3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98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11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3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76470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22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49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21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68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850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5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643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918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8D8E887-6788-4EF2-8725-E4E97197F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2F3206E9-58DF-4D91-B0A9-8204642B0A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067007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99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217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81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9636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02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809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740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374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2889451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2024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167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90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638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183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087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7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668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5585449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951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851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4174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825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61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5377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2290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4702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9407E-41C3-40ED-85C3-4F4AC310C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D66044-C392-47A5-889F-A4F90FD2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pPr/>
              <a:t>12.05.2026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DF13AC-6E1E-4952-A845-6B362839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8ACDA3-E292-470D-9120-E50EBB6B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BC5BAF7-EFF7-4D86-8301-BE8F3D3FEB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993206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43B20-A1B6-44D1-BB04-ED9151FA2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DBDE35-63AF-45E9-A900-BE347A762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1086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0010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8964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85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296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2499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4675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1314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0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12.05.2026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8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12.05.2026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7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12.05.2026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5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12.05.2026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9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12.05.2026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4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E79D92-88A3-4669-9E63-839B8296D48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4" y="67758"/>
            <a:ext cx="2749647" cy="9165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12.05.2026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47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E105180-9459-4618-A9B5-823661CB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195"/>
            <a:ext cx="10515600" cy="1928812"/>
          </a:xfrm>
        </p:spPr>
        <p:txBody>
          <a:bodyPr>
            <a:normAutofit fontScale="90000"/>
          </a:bodyPr>
          <a:lstStyle/>
          <a:p>
            <a:r>
              <a:rPr lang="ru-RU" b="0" dirty="0"/>
              <a:t>Веб‑платформа мониторинга и классификации земных покровов по спутниковым данным</a:t>
            </a:r>
            <a:br>
              <a:rPr lang="ru-RU" b="0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7C975E68-0A5B-4C40-8370-5A2ABEF71A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Наумов Дмитрий Дмитриевич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073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3A486E-19D8-478B-82FB-76FB43E4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Актуальность </a:t>
            </a:r>
            <a:r>
              <a:rPr lang="ru-RU" dirty="0"/>
              <a:t>проекта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0" dirty="0"/>
              <a:t/>
            </a:r>
            <a:br>
              <a:rPr lang="ru-RU" b="0" dirty="0"/>
            </a:b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Мониторинг земных покровов требует объединения оптических и SAR‑данных, а также удобного интерфейса для выбора AOI и запуска анализа.</a:t>
            </a:r>
          </a:p>
          <a:p>
            <a:r>
              <a:rPr lang="ru-RU" dirty="0"/>
              <a:t>Существующие решения часто либо ориентированы на специалистов ГИС, либо не дают полного цикла: выбор сцены → классификация → статистика → экспорт.</a:t>
            </a:r>
          </a:p>
          <a:p>
            <a:r>
              <a:rPr lang="ru-RU" dirty="0"/>
              <a:t>Проект закрывает прикладную потребность в веб‑инструменте для анализа изменений покрытия территории по спутниковым данным.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65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Цель и задачи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endParaRPr lang="ru-RU" dirty="0" smtClean="0"/>
          </a:p>
          <a:p>
            <a:endParaRPr lang="ru-RU" dirty="0"/>
          </a:p>
          <a:p>
            <a:r>
              <a:rPr lang="ru-RU" sz="8000" dirty="0" smtClean="0"/>
              <a:t>Цель</a:t>
            </a:r>
            <a:endParaRPr lang="ru-RU" sz="8000" dirty="0"/>
          </a:p>
          <a:p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/>
              <a:t>Разработать </a:t>
            </a:r>
            <a:r>
              <a:rPr lang="ru-RU" dirty="0"/>
              <a:t>информационную систему для мониторинга и классификации земных покровов на основе спутниковых данных с поддержкой выбора области интереса, автоматизированной обработки и экспорта результатов.</a:t>
            </a:r>
          </a:p>
          <a:p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25000" lnSpcReduction="20000"/>
          </a:bodyPr>
          <a:lstStyle/>
          <a:p>
            <a:endParaRPr lang="ru-RU" sz="3200" dirty="0" smtClean="0"/>
          </a:p>
          <a:p>
            <a:endParaRPr lang="ru-RU" sz="3200" dirty="0"/>
          </a:p>
          <a:p>
            <a:r>
              <a:rPr lang="ru-RU" sz="10400" dirty="0" smtClean="0"/>
              <a:t>Задачи</a:t>
            </a:r>
            <a:endParaRPr lang="ru-RU" sz="10400" dirty="0"/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Проанализировать </a:t>
            </a:r>
            <a:r>
              <a:rPr lang="ru-RU" dirty="0"/>
              <a:t>предметную область и существующие аналоги.</a:t>
            </a:r>
          </a:p>
          <a:p>
            <a:r>
              <a:rPr lang="ru-RU" dirty="0"/>
              <a:t>Определить функциональные и нефункциональные требования.</a:t>
            </a:r>
          </a:p>
          <a:p>
            <a:r>
              <a:rPr lang="ru-RU" dirty="0"/>
              <a:t>Спроектировать архитектуру, БД и API системы.</a:t>
            </a:r>
          </a:p>
          <a:p>
            <a:r>
              <a:rPr lang="ru-RU" dirty="0"/>
              <a:t>Реализовать пользовательский интерфейс и сценарий анализа.</a:t>
            </a:r>
          </a:p>
          <a:p>
            <a:r>
              <a:rPr lang="ru-RU" dirty="0"/>
              <a:t>Оценить результаты, метрики качества и направления развития.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23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и сравнение аналогов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85608"/>
              </p:ext>
            </p:extLst>
          </p:nvPr>
        </p:nvGraphicFramePr>
        <p:xfrm>
          <a:off x="834188" y="2204704"/>
          <a:ext cx="10519612" cy="4171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903">
                  <a:extLst>
                    <a:ext uri="{9D8B030D-6E8A-4147-A177-3AD203B41FA5}">
                      <a16:colId xmlns:a16="http://schemas.microsoft.com/office/drawing/2014/main" val="2860347986"/>
                    </a:ext>
                  </a:extLst>
                </a:gridCol>
                <a:gridCol w="2629903">
                  <a:extLst>
                    <a:ext uri="{9D8B030D-6E8A-4147-A177-3AD203B41FA5}">
                      <a16:colId xmlns:a16="http://schemas.microsoft.com/office/drawing/2014/main" val="2869656744"/>
                    </a:ext>
                  </a:extLst>
                </a:gridCol>
                <a:gridCol w="2629903">
                  <a:extLst>
                    <a:ext uri="{9D8B030D-6E8A-4147-A177-3AD203B41FA5}">
                      <a16:colId xmlns:a16="http://schemas.microsoft.com/office/drawing/2014/main" val="3905758762"/>
                    </a:ext>
                  </a:extLst>
                </a:gridCol>
                <a:gridCol w="2629903">
                  <a:extLst>
                    <a:ext uri="{9D8B030D-6E8A-4147-A177-3AD203B41FA5}">
                      <a16:colId xmlns:a16="http://schemas.microsoft.com/office/drawing/2014/main" val="1587737023"/>
                    </a:ext>
                  </a:extLst>
                </a:gridCol>
              </a:tblGrid>
              <a:tr h="310436"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solidFill>
                            <a:srgbClr val="0B2F97"/>
                          </a:solidFill>
                          <a:effectLst/>
                        </a:rPr>
                        <a:t>Система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solidFill>
                            <a:srgbClr val="0B2F97"/>
                          </a:solidFill>
                          <a:effectLst/>
                        </a:rPr>
                        <a:t>Сильные стороны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solidFill>
                            <a:srgbClr val="0B2F97"/>
                          </a:solidFill>
                          <a:effectLst/>
                        </a:rPr>
                        <a:t>Ограничения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solidFill>
                            <a:srgbClr val="0B2F97"/>
                          </a:solidFill>
                          <a:effectLst/>
                        </a:rPr>
                        <a:t>Вывод для проекта</a:t>
                      </a:r>
                    </a:p>
                  </a:txBody>
                  <a:tcPr marL="104775" marR="104775" marT="85725" marB="85725"/>
                </a:tc>
                <a:extLst>
                  <a:ext uri="{0D108BD9-81ED-4DB2-BD59-A6C34878D82A}">
                    <a16:rowId xmlns:a16="http://schemas.microsoft.com/office/drawing/2014/main" val="1694169423"/>
                  </a:ext>
                </a:extLst>
              </a:tr>
              <a:tr h="1074588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Google Earth Engine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Мощная обработка, большой каталог данных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Требует навыков скриптинга, не ориентирован на готовый прикладной workflow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Подтверждает ценность автоматизации и визуального сценария</a:t>
                      </a:r>
                    </a:p>
                  </a:txBody>
                  <a:tcPr marL="104775" marR="104775" marT="85725" marB="85725"/>
                </a:tc>
                <a:extLst>
                  <a:ext uri="{0D108BD9-81ED-4DB2-BD59-A6C34878D82A}">
                    <a16:rowId xmlns:a16="http://schemas.microsoft.com/office/drawing/2014/main" val="772986670"/>
                  </a:ext>
                </a:extLst>
              </a:tr>
              <a:tr h="1074588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Sentinel Hub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Доступ к данным и API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Фокус на доступе к сценам, а не на полном цикле пользовательского анализа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Нужен собственный слой аналитики и отображения</a:t>
                      </a:r>
                    </a:p>
                  </a:txBody>
                  <a:tcPr marL="104775" marR="104775" marT="85725" marB="85725"/>
                </a:tc>
                <a:extLst>
                  <a:ext uri="{0D108BD9-81ED-4DB2-BD59-A6C34878D82A}">
                    <a16:rowId xmlns:a16="http://schemas.microsoft.com/office/drawing/2014/main" val="3880378546"/>
                  </a:ext>
                </a:extLst>
              </a:tr>
              <a:tr h="692512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ESA WorldCover / Dynamic World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Готовые глобальные продукты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Нет пользовательской настройки под AOI и период анализа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Полезны как референс и источник сравнения качества</a:t>
                      </a:r>
                    </a:p>
                  </a:txBody>
                  <a:tcPr marL="104775" marR="104775" marT="85725" marB="85725"/>
                </a:tc>
                <a:extLst>
                  <a:ext uri="{0D108BD9-81ED-4DB2-BD59-A6C34878D82A}">
                    <a16:rowId xmlns:a16="http://schemas.microsoft.com/office/drawing/2014/main" val="1500828287"/>
                  </a:ext>
                </a:extLst>
              </a:tr>
              <a:tr h="883550"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MaRS Platform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Интеграция данных, AOI, классификация, статистика и экспорт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>
                          <a:effectLst/>
                        </a:rPr>
                        <a:t>Требует дальнейшего развития моделей и промышленной интеграции</a:t>
                      </a:r>
                    </a:p>
                  </a:txBody>
                  <a:tcPr marL="104775" marR="104775" marT="85725" marB="857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dirty="0">
                          <a:effectLst/>
                        </a:rPr>
                        <a:t>Оптимальна как прикладная ИС под задачи проекта</a:t>
                      </a:r>
                    </a:p>
                  </a:txBody>
                  <a:tcPr marL="104775" marR="104775" marT="85725" marB="85725"/>
                </a:tc>
                <a:extLst>
                  <a:ext uri="{0D108BD9-81ED-4DB2-BD59-A6C34878D82A}">
                    <a16:rowId xmlns:a16="http://schemas.microsoft.com/office/drawing/2014/main" val="1770064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12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1E0B3-8C4A-4BEF-BA49-D8498F96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Используемые технологии и инструменты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Python, </a:t>
            </a:r>
            <a:r>
              <a:rPr lang="en-US" dirty="0" err="1"/>
              <a:t>PyTorch</a:t>
            </a:r>
            <a:r>
              <a:rPr lang="en-US" dirty="0"/>
              <a:t> — </a:t>
            </a:r>
            <a:r>
              <a:rPr lang="ru-RU" dirty="0"/>
              <a:t>вычислительная и </a:t>
            </a:r>
            <a:r>
              <a:rPr lang="en-US" dirty="0"/>
              <a:t>ML‑</a:t>
            </a:r>
            <a:r>
              <a:rPr lang="ru-RU" dirty="0"/>
              <a:t>часть.</a:t>
            </a:r>
          </a:p>
          <a:p>
            <a:r>
              <a:rPr lang="en-US" dirty="0"/>
              <a:t>React / Leaflet / </a:t>
            </a:r>
            <a:r>
              <a:rPr lang="en-US" dirty="0" err="1"/>
              <a:t>OpenLayers</a:t>
            </a:r>
            <a:r>
              <a:rPr lang="en-US" dirty="0"/>
              <a:t> — </a:t>
            </a:r>
            <a:r>
              <a:rPr lang="ru-RU" dirty="0"/>
              <a:t>веб‑интерфейс и работа с картой.</a:t>
            </a:r>
          </a:p>
          <a:p>
            <a:r>
              <a:rPr lang="en-US" dirty="0"/>
              <a:t>PostgreSQL + </a:t>
            </a:r>
            <a:r>
              <a:rPr lang="en-US" dirty="0" err="1"/>
              <a:t>PostGIS</a:t>
            </a:r>
            <a:r>
              <a:rPr lang="en-US" dirty="0"/>
              <a:t> — </a:t>
            </a:r>
            <a:r>
              <a:rPr lang="ru-RU" dirty="0"/>
              <a:t>хранение пространственных и прикладных данных.</a:t>
            </a:r>
          </a:p>
          <a:p>
            <a:r>
              <a:rPr lang="en-US" dirty="0"/>
              <a:t>REST API — </a:t>
            </a:r>
            <a:r>
              <a:rPr lang="ru-RU" dirty="0"/>
              <a:t>обмен между клиентом, обработкой и слоем хранения.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328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и архитектура</a:t>
            </a:r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927100" y="3962806"/>
            <a:ext cx="5157787" cy="823912"/>
          </a:xfrm>
        </p:spPr>
        <p:txBody>
          <a:bodyPr/>
          <a:lstStyle/>
          <a:p>
            <a:r>
              <a:rPr lang="ru-RU" dirty="0"/>
              <a:t>Логика данных</a:t>
            </a:r>
          </a:p>
        </p:txBody>
      </p:sp>
      <p:sp>
        <p:nvSpPr>
          <p:cNvPr id="31" name="Объект 30"/>
          <p:cNvSpPr>
            <a:spLocks noGrp="1"/>
          </p:cNvSpPr>
          <p:nvPr>
            <p:ph sz="half" idx="2"/>
          </p:nvPr>
        </p:nvSpPr>
        <p:spPr>
          <a:xfrm>
            <a:off x="962526" y="5037221"/>
            <a:ext cx="5130886" cy="115244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Центральная сущность — запрос анализа. С ним связаны пользователь, выбранный период, AOI, набор сцен, результат классификации и метрики качества.</a:t>
            </a:r>
          </a:p>
        </p:txBody>
      </p:sp>
      <p:sp>
        <p:nvSpPr>
          <p:cNvPr id="32" name="Текст 31"/>
          <p:cNvSpPr>
            <a:spLocks noGrp="1"/>
          </p:cNvSpPr>
          <p:nvPr>
            <p:ph type="body" sz="quarter" idx="3"/>
          </p:nvPr>
        </p:nvSpPr>
        <p:spPr>
          <a:xfrm>
            <a:off x="6411084" y="3975727"/>
            <a:ext cx="5183188" cy="823912"/>
          </a:xfrm>
        </p:spPr>
        <p:txBody>
          <a:bodyPr numCol="3"/>
          <a:lstStyle/>
          <a:p>
            <a:r>
              <a:rPr lang="ru-RU" dirty="0" smtClean="0"/>
              <a:t>Архитектурный </a:t>
            </a:r>
            <a:r>
              <a:rPr lang="ru-RU" dirty="0"/>
              <a:t>принцип</a:t>
            </a:r>
          </a:p>
          <a:p>
            <a:endParaRPr lang="ru-RU" dirty="0"/>
          </a:p>
        </p:txBody>
      </p:sp>
      <p:sp>
        <p:nvSpPr>
          <p:cNvPr id="33" name="Объект 32"/>
          <p:cNvSpPr>
            <a:spLocks noGrp="1"/>
          </p:cNvSpPr>
          <p:nvPr>
            <p:ph sz="quarter" idx="4"/>
          </p:nvPr>
        </p:nvSpPr>
        <p:spPr>
          <a:xfrm>
            <a:off x="6411084" y="5037221"/>
            <a:ext cx="5183188" cy="115244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Модульность: интерфейс, API, аналитический модуль и база данных разделены, что упрощает масштабирование и сопровождение системы.</a:t>
            </a:r>
          </a:p>
        </p:txBody>
      </p:sp>
      <p:sp>
        <p:nvSpPr>
          <p:cNvPr id="17" name="Text 1"/>
          <p:cNvSpPr/>
          <p:nvPr/>
        </p:nvSpPr>
        <p:spPr>
          <a:xfrm>
            <a:off x="511783" y="1814059"/>
            <a:ext cx="2574204" cy="1899584"/>
          </a:xfrm>
          <a:prstGeom prst="roundRect">
            <a:avLst>
              <a:gd name="adj" fmla="val 129949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8"/>
          <p:cNvSpPr/>
          <p:nvPr/>
        </p:nvSpPr>
        <p:spPr>
          <a:xfrm>
            <a:off x="781070" y="2210262"/>
            <a:ext cx="2035629" cy="1107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32"/>
              </a:lnSpc>
              <a:buNone/>
            </a:pPr>
            <a:r>
              <a:rPr lang="en-US" sz="1275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UI, карта, формы выбора AOI, запуск анализа, просмотр результатов.</a:t>
            </a:r>
            <a:endParaRPr lang="en-US" sz="1275" dirty="0"/>
          </a:p>
        </p:txBody>
      </p:sp>
      <p:sp>
        <p:nvSpPr>
          <p:cNvPr id="25" name="Text 1"/>
          <p:cNvSpPr/>
          <p:nvPr/>
        </p:nvSpPr>
        <p:spPr>
          <a:xfrm>
            <a:off x="3352695" y="1810215"/>
            <a:ext cx="2471200" cy="1899584"/>
          </a:xfrm>
          <a:prstGeom prst="roundRect">
            <a:avLst>
              <a:gd name="adj" fmla="val 129949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9"/>
          <p:cNvSpPr/>
          <p:nvPr/>
        </p:nvSpPr>
        <p:spPr>
          <a:xfrm>
            <a:off x="3444488" y="2210262"/>
            <a:ext cx="2189383" cy="102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32"/>
              </a:lnSpc>
              <a:buNone/>
            </a:pPr>
            <a:r>
              <a:rPr lang="en-US" sz="1275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REST‑эндпоинты для запросов классификации, получения сцен, статистики и файлов.</a:t>
            </a:r>
            <a:endParaRPr lang="en-US" sz="1275" dirty="0"/>
          </a:p>
        </p:txBody>
      </p:sp>
      <p:sp>
        <p:nvSpPr>
          <p:cNvPr id="28" name="Text 1"/>
          <p:cNvSpPr/>
          <p:nvPr/>
        </p:nvSpPr>
        <p:spPr>
          <a:xfrm>
            <a:off x="6093412" y="1761510"/>
            <a:ext cx="2574204" cy="1899584"/>
          </a:xfrm>
          <a:prstGeom prst="roundRect">
            <a:avLst>
              <a:gd name="adj" fmla="val 129949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0"/>
          <p:cNvSpPr/>
          <p:nvPr/>
        </p:nvSpPr>
        <p:spPr>
          <a:xfrm>
            <a:off x="6411085" y="2191166"/>
            <a:ext cx="1938857" cy="1107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32"/>
              </a:lnSpc>
              <a:buNone/>
            </a:pPr>
            <a:r>
              <a:rPr lang="en-US" sz="1275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сцен, запуск моделей MaRS / RNN / LSTM, формирование GeoTIFF и статистики.</a:t>
            </a:r>
            <a:endParaRPr lang="en-US" sz="1275" dirty="0"/>
          </a:p>
        </p:txBody>
      </p:sp>
      <p:sp>
        <p:nvSpPr>
          <p:cNvPr id="29" name="Text 1"/>
          <p:cNvSpPr/>
          <p:nvPr/>
        </p:nvSpPr>
        <p:spPr>
          <a:xfrm>
            <a:off x="8931176" y="1772968"/>
            <a:ext cx="2574204" cy="1899584"/>
          </a:xfrm>
          <a:prstGeom prst="roundRect">
            <a:avLst>
              <a:gd name="adj" fmla="val 129949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1"/>
          <p:cNvSpPr/>
          <p:nvPr/>
        </p:nvSpPr>
        <p:spPr>
          <a:xfrm>
            <a:off x="9178981" y="2210262"/>
            <a:ext cx="2078593" cy="102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32"/>
              </a:lnSpc>
              <a:buNone/>
            </a:pPr>
            <a:r>
              <a:rPr lang="en-US" sz="1275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PostgreSQL/PostGIS: пользователи, запросы, сцены, результаты, метрики, классы покрытия.</a:t>
            </a:r>
            <a:endParaRPr lang="en-US" sz="1275" dirty="0"/>
          </a:p>
        </p:txBody>
      </p:sp>
    </p:spTree>
    <p:extLst>
      <p:ext uri="{BB962C8B-B14F-4D97-AF65-F5344CB8AC3E}">
        <p14:creationId xmlns:p14="http://schemas.microsoft.com/office/powerpoint/2010/main" val="370063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 и интерфейса</a:t>
            </a:r>
          </a:p>
        </p:txBody>
      </p:sp>
      <p:pic>
        <p:nvPicPr>
          <p:cNvPr id="8" name="0512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83188" y="1687513"/>
            <a:ext cx="6172200" cy="3471862"/>
          </a:xfrm>
        </p:spPr>
      </p:pic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Выбор области интереса на карте и параметров анализа.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Подбор спутниковых сцен Sentinel‑2 / Sentinel‑1 / </a:t>
            </a:r>
            <a:r>
              <a:rPr lang="ru-RU" dirty="0" err="1"/>
              <a:t>Landsat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Запуск классификации и просмотр метрик качества.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Экспорт результатов в </a:t>
            </a:r>
            <a:r>
              <a:rPr lang="ru-RU" dirty="0" err="1"/>
              <a:t>GeoTIFF</a:t>
            </a:r>
            <a:r>
              <a:rPr lang="ru-RU" dirty="0"/>
              <a:t>, </a:t>
            </a:r>
            <a:r>
              <a:rPr lang="ru-RU" dirty="0" err="1"/>
              <a:t>GeoJSON</a:t>
            </a:r>
            <a:r>
              <a:rPr lang="ru-RU" dirty="0"/>
              <a:t>, KML и CSV.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36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 анализ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Достигнутые </a:t>
            </a:r>
            <a:r>
              <a:rPr lang="ru-RU" b="1" dirty="0" smtClean="0"/>
              <a:t>результаты:</a:t>
            </a:r>
            <a:endParaRPr lang="ru-RU" b="1" dirty="0"/>
          </a:p>
          <a:p>
            <a:r>
              <a:rPr lang="ru-RU" dirty="0"/>
              <a:t>Сформированы требования SRS и логика пользовательских сценариев.</a:t>
            </a:r>
          </a:p>
          <a:p>
            <a:r>
              <a:rPr lang="ru-RU" dirty="0"/>
              <a:t>Спроектированы архитектура, API и реляционная база данных.</a:t>
            </a:r>
          </a:p>
          <a:p>
            <a:r>
              <a:rPr lang="ru-RU" dirty="0"/>
              <a:t>Разработан интерактивный прототип интерфейса платформы.</a:t>
            </a:r>
          </a:p>
          <a:p>
            <a:r>
              <a:rPr lang="ru-RU" dirty="0"/>
              <a:t>Определены метрики оценки: </a:t>
            </a:r>
            <a:r>
              <a:rPr lang="ru-RU" dirty="0" err="1"/>
              <a:t>Accuracy</a:t>
            </a:r>
            <a:r>
              <a:rPr lang="ru-RU" dirty="0"/>
              <a:t>, </a:t>
            </a:r>
            <a:r>
              <a:rPr lang="ru-RU" dirty="0" err="1"/>
              <a:t>Kappa</a:t>
            </a:r>
            <a:r>
              <a:rPr lang="ru-RU" dirty="0"/>
              <a:t>, </a:t>
            </a:r>
            <a:r>
              <a:rPr lang="ru-RU" dirty="0" err="1"/>
              <a:t>Mean</a:t>
            </a:r>
            <a:r>
              <a:rPr lang="ru-RU" dirty="0"/>
              <a:t> </a:t>
            </a:r>
            <a:r>
              <a:rPr lang="ru-RU" dirty="0" err="1"/>
              <a:t>IoU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05049"/>
            <a:ext cx="5181600" cy="3826041"/>
          </a:xfrm>
        </p:spPr>
      </p:pic>
    </p:spTree>
    <p:extLst>
      <p:ext uri="{BB962C8B-B14F-4D97-AF65-F5344CB8AC3E}">
        <p14:creationId xmlns:p14="http://schemas.microsoft.com/office/powerpoint/2010/main" val="250854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развития и улучшения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Интеграция дополнительных моделей и источников данных.</a:t>
            </a:r>
          </a:p>
          <a:p>
            <a:r>
              <a:rPr lang="ru-RU" dirty="0"/>
              <a:t>Автоматизация серии анализов и сценариев мониторинга изменений.</a:t>
            </a:r>
          </a:p>
          <a:p>
            <a:r>
              <a:rPr lang="ru-RU" dirty="0"/>
              <a:t>Расширение ролей пользователей и административных функций.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Следующий этап</a:t>
            </a:r>
          </a:p>
          <a:p>
            <a:r>
              <a:rPr lang="ru-RU" dirty="0"/>
              <a:t>Переход от прототипа к MVP: промышленный </a:t>
            </a:r>
            <a:r>
              <a:rPr lang="ru-RU" dirty="0" err="1"/>
              <a:t>backend</a:t>
            </a:r>
            <a:r>
              <a:rPr lang="ru-RU" dirty="0"/>
              <a:t>, полноценная загрузка сцен, расширенное сравнение с эталонными продуктами и модуль отчётности.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27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ходе работы спроектирована информационная система для мониторинга и классификации земных покровов, объединяющая выбор AOI, работу со спутниковыми сценами, аналитический модуль, хранение результатов и экспорт данных.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Проект демонстрирует применение принципов управления проектами ИС: от анализа предметной области и требований до архитектурного проектирования, </a:t>
            </a:r>
            <a:r>
              <a:rPr lang="ru-RU" dirty="0" err="1"/>
              <a:t>прототипирования</a:t>
            </a:r>
            <a:r>
              <a:rPr lang="ru-RU" dirty="0"/>
              <a:t> и оценки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2175881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5885B3-B3DE-4564-BDC7-0F959A3F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05806438"/>
      </p:ext>
    </p:extLst>
  </p:cSld>
  <p:clrMapOvr>
    <a:masterClrMapping/>
  </p:clrMapOvr>
</p:sld>
</file>

<file path=ppt/theme/theme1.xml><?xml version="1.0" encoding="utf-8"?>
<a:theme xmlns:a="http://schemas.openxmlformats.org/drawingml/2006/main" name="Горы днём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2.xml><?xml version="1.0" encoding="utf-8"?>
<a:theme xmlns:a="http://schemas.openxmlformats.org/drawingml/2006/main" name="Горы резко обрываются равниной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3.xml><?xml version="1.0" encoding="utf-8"?>
<a:theme xmlns:a="http://schemas.openxmlformats.org/drawingml/2006/main" name="Лазерная гравировка по стали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EB60DE6F-028E-4872-82DB-DADC663CBDD8}"/>
    </a:ext>
  </a:extLst>
</a:theme>
</file>

<file path=ppt/theme/theme4.xml><?xml version="1.0" encoding="utf-8"?>
<a:theme xmlns:a="http://schemas.openxmlformats.org/drawingml/2006/main" name="Горы плавно переходят в равнину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5.xml><?xml version="1.0" encoding="utf-8"?>
<a:theme xmlns:a="http://schemas.openxmlformats.org/drawingml/2006/main" name="Формул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6.xml><?xml version="1.0" encoding="utf-8"?>
<a:theme xmlns:a="http://schemas.openxmlformats.org/drawingml/2006/main" name="Горы ночью">
  <a:themeElements>
    <a:clrScheme name="Ночной МИИГАиК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C38CD02F-1156-4645-B207-AB6B5FD4AB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595</Words>
  <Application>Microsoft Office PowerPoint</Application>
  <PresentationFormat>Широкоэкранный</PresentationFormat>
  <Paragraphs>75</Paragraphs>
  <Slides>11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Montserrat</vt:lpstr>
      <vt:lpstr>Горы днём</vt:lpstr>
      <vt:lpstr>Горы резко обрываются равниной</vt:lpstr>
      <vt:lpstr>Лазерная гравировка по стали</vt:lpstr>
      <vt:lpstr>Горы плавно переходят в равнину</vt:lpstr>
      <vt:lpstr>Формула</vt:lpstr>
      <vt:lpstr>Горы ночью</vt:lpstr>
      <vt:lpstr>Веб‑платформа мониторинга и классификации земных покровов по спутниковым данным  </vt:lpstr>
      <vt:lpstr>   Актуальность проекта   </vt:lpstr>
      <vt:lpstr>Цель и задачи</vt:lpstr>
      <vt:lpstr>Обзор и сравнение аналогов</vt:lpstr>
      <vt:lpstr>Используемые технологии и инструменты</vt:lpstr>
      <vt:lpstr>Проектирование и архитектура</vt:lpstr>
      <vt:lpstr>Демонстрация работы и интерфейса</vt:lpstr>
      <vt:lpstr>Результаты и анализ</vt:lpstr>
      <vt:lpstr>Перспективы развития и улучшения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Роман Жуков</dc:creator>
  <cp:lastModifiedBy>Din Razar</cp:lastModifiedBy>
  <cp:revision>23</cp:revision>
  <dcterms:created xsi:type="dcterms:W3CDTF">2025-04-17T10:00:13Z</dcterms:created>
  <dcterms:modified xsi:type="dcterms:W3CDTF">2026-05-12T07:38:35Z</dcterms:modified>
</cp:coreProperties>
</file>